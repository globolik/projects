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8" r:id="rId9"/>
    <p:sldId id="269" r:id="rId10"/>
    <p:sldId id="273" r:id="rId11"/>
    <p:sldId id="275" r:id="rId12"/>
    <p:sldId id="276" r:id="rId13"/>
    <p:sldId id="277" r:id="rId14"/>
    <p:sldId id="28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3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77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509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67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60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97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58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71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69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19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87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6F467-EEEA-41AD-A12C-D182249B7258}" type="datetimeFigureOut">
              <a:rPr lang="ru-RU" smtClean="0"/>
              <a:t>05.07.2021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02F28-A491-48E3-A0DE-BB7A9A3E8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36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ance.com/ru/support/faq/360041505471" TargetMode="External"/><Relationship Id="rId2" Type="http://schemas.openxmlformats.org/officeDocument/2006/relationships/hyperlink" Target="https://www.binance.com/ru/margin-fe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WANtBp8pEQZZZB_pdDKVGIV6LeF8GCAk/view?usp=sharing" TargetMode="External"/><Relationship Id="rId4" Type="http://schemas.openxmlformats.org/officeDocument/2006/relationships/hyperlink" Target="https://www.binance.com/en/support/faq/36003352527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2p.binance.com/ru/quickTrade/buy/USDT/RU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stchange.ru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r3SqLCYFCCY&amp;t=433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033137" y="2444363"/>
            <a:ext cx="4097155" cy="1191306"/>
          </a:xfrm>
        </p:spPr>
        <p:txBody>
          <a:bodyPr anchor="ctr">
            <a:normAutofit/>
          </a:bodyPr>
          <a:lstStyle/>
          <a:p>
            <a:r>
              <a:rPr lang="ru-RU" sz="8000" dirty="0" smtClean="0"/>
              <a:t>Биржи</a:t>
            </a:r>
            <a:endParaRPr lang="ru-RU" sz="8000" dirty="0"/>
          </a:p>
        </p:txBody>
      </p:sp>
    </p:spTree>
    <p:extLst>
      <p:ext uri="{BB962C8B-B14F-4D97-AF65-F5344CB8AC3E}">
        <p14:creationId xmlns:p14="http://schemas.microsoft.com/office/powerpoint/2010/main" val="126215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+mj-lt"/>
              </a:rPr>
              <a:t>Будет составлено по окончанию презентации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2065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Критерии оценивания</a:t>
            </a:r>
            <a:endParaRPr lang="ru-RU" dirty="0"/>
          </a:p>
        </p:txBody>
      </p:sp>
      <p:graphicFrame>
        <p:nvGraphicFramePr>
          <p:cNvPr id="9" name="Объект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674895"/>
              </p:ext>
            </p:extLst>
          </p:nvPr>
        </p:nvGraphicFramePr>
        <p:xfrm>
          <a:off x="838200" y="1824038"/>
          <a:ext cx="10515600" cy="3662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389795684"/>
                    </a:ext>
                  </a:extLst>
                </a:gridCol>
                <a:gridCol w="8877300">
                  <a:extLst>
                    <a:ext uri="{9D8B030D-6E8A-4147-A177-3AD203B41FA5}">
                      <a16:colId xmlns:a16="http://schemas.microsoft.com/office/drawing/2014/main" val="2504746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Доп.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Иформация</a:t>
                      </a:r>
                      <a:endParaRPr lang="ru-RU" sz="1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53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Запрет на Россию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В пользовательском соглашении или на странице регистрации выписаны страны, граждане которых не могут быть клиентами. Проверка биржей документов клиента может быть запрошена по любой причине и без нее, по этому этот критерий важен.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9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Объем торговли 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(за 24ч)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Выбирать с объемом более 40 млн</a:t>
                      </a:r>
                      <a:r>
                        <a:rPr lang="en-US" sz="1800" b="1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$</a:t>
                      </a:r>
                      <a:r>
                        <a:rPr lang="ru-RU" sz="1800" b="1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Биржи </a:t>
                      </a: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с низким объемом имеют меньшую волатильность торгов. Это означает, что покупать и продавать на ней приходят меньше людей с меньшими суммами. Так же меньший оборот равняется меньшей прибыли биржи от торгов, как следствие больший риск ее падения. 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89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API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и боты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API 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Позволяет </a:t>
                      </a:r>
                      <a:r>
                        <a:rPr lang="ru-RU" sz="1800" b="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покупить</a:t>
                      </a: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ru-RU" sz="1800" b="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продовать</a:t>
                      </a: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, выводить, собирать инфу с </a:t>
                      </a:r>
                      <a:r>
                        <a:rPr lang="ru-RU" sz="1800" b="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биржы</a:t>
                      </a: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с помощью алгоритмов написанных пользователем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.</a:t>
                      </a:r>
                      <a:r>
                        <a:rPr lang="en-US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некоторых биржах уже успешно работают боты с официальным разрешением.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28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Комиссии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Существуют комиссии на ввод, вывод, торговлю. Также при маржинальной торговле (торговле с плечом) может взыматься процент, который нужно иметь ввиду.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38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51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Критерии оценивания</a:t>
            </a:r>
            <a:endParaRPr lang="ru-RU" dirty="0"/>
          </a:p>
        </p:txBody>
      </p:sp>
      <p:graphicFrame>
        <p:nvGraphicFramePr>
          <p:cNvPr id="9" name="Объект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583602"/>
              </p:ext>
            </p:extLst>
          </p:nvPr>
        </p:nvGraphicFramePr>
        <p:xfrm>
          <a:off x="838200" y="1824038"/>
          <a:ext cx="10515600" cy="321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389795684"/>
                    </a:ext>
                  </a:extLst>
                </a:gridCol>
                <a:gridCol w="8877300">
                  <a:extLst>
                    <a:ext uri="{9D8B030D-6E8A-4147-A177-3AD203B41FA5}">
                      <a16:colId xmlns:a16="http://schemas.microsoft.com/office/drawing/2014/main" val="2504746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Название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Доп.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Иформация</a:t>
                      </a:r>
                      <a:endParaRPr lang="ru-RU" sz="1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53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Наличие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фиата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Фиат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– жаргонные слово для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фиатных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денег (бумажные деньги, которые не подкрепляют свою стоимость материалом из которого сделаны, т.е. рубли, доллары). Желательно выбирать </a:t>
                      </a:r>
                      <a:r>
                        <a:rPr lang="ru-RU" sz="1800" b="1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биржу с вводом в рублях, 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тогда можно избежать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коммисии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от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обменника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криптовалют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. Но внимательно нужно смотреть на комиссию на ввод (если она есть). Биржа может </a:t>
                      </a:r>
                      <a:r>
                        <a:rPr lang="ru-RU" sz="1800" b="1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не работать с </a:t>
                      </a:r>
                      <a:r>
                        <a:rPr lang="ru-RU" sz="1800" b="1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фиатом</a:t>
                      </a:r>
                      <a:r>
                        <a:rPr lang="ru-RU" sz="1800" b="1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(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торговля только между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криптовалютами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ru-RU" sz="1800" b="1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, но позволять вводить </a:t>
                      </a:r>
                      <a:r>
                        <a:rPr lang="ru-RU" sz="1800" b="1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фиатные</a:t>
                      </a:r>
                      <a:r>
                        <a:rPr lang="ru-RU" sz="1800" b="1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деньги.</a:t>
                      </a:r>
                      <a:endParaRPr lang="ru-RU" sz="18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9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Поддержка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Желательно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, чтобы у </a:t>
                      </a:r>
                      <a:r>
                        <a:rPr lang="ru-RU" sz="1800" b="0" baseline="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биржы</a:t>
                      </a:r>
                      <a:r>
                        <a:rPr lang="ru-RU" sz="1800" b="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была поддержка на русском.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28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Представительство в РФ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Это может упростить и ускорить процесс решения проблем. Например, если средства пользователя пропадут, если аккаунт будет взломан или временно заблокирован и так далее.</a:t>
                      </a:r>
                      <a:endParaRPr lang="ru-RU" sz="1800" b="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38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35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Критерии оценивания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046663"/>
              </p:ext>
            </p:extLst>
          </p:nvPr>
        </p:nvGraphicFramePr>
        <p:xfrm>
          <a:off x="838200" y="1825625"/>
          <a:ext cx="10515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825">
                  <a:extLst>
                    <a:ext uri="{9D8B030D-6E8A-4147-A177-3AD203B41FA5}">
                      <a16:colId xmlns:a16="http://schemas.microsoft.com/office/drawing/2014/main" val="17485735"/>
                    </a:ext>
                  </a:extLst>
                </a:gridCol>
                <a:gridCol w="8867775">
                  <a:extLst>
                    <a:ext uri="{9D8B030D-6E8A-4147-A177-3AD203B41FA5}">
                      <a16:colId xmlns:a16="http://schemas.microsoft.com/office/drawing/2014/main" val="2511785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Вывод/Ввод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 данные операции существуют лимиты (дневные, недельные </a:t>
                      </a:r>
                      <a:r>
                        <a:rPr lang="ru-RU" sz="180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итд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). Необходимо сравнивать свой депозит с лимитами во избежание застраивания валюты на счету. Еще нужно иметь ввиду минимальную сумму на вывод. Способы вывода на </a:t>
                      </a:r>
                      <a:r>
                        <a:rPr lang="ru-RU" sz="180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сбер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или другой банк в РФ</a:t>
                      </a:r>
                      <a:r>
                        <a:rPr lang="ru-RU" sz="180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встречаются, но редко. Для Покупки/Продажи крипты можно пользоваться </a:t>
                      </a:r>
                      <a:r>
                        <a:rPr lang="ru-RU" sz="180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обменниками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,</a:t>
                      </a:r>
                      <a:r>
                        <a:rPr lang="ru-RU" sz="1800" baseline="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если биржа не работает с рублями.</a:t>
                      </a:r>
                      <a:endParaRPr lang="ru-RU" sz="1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092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Верификация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Стоит обратить внимание на то обязательна ли она, так как при выводе средств может оказаться что нужно подтвердить личность и процесс затянется.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121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Наличие плеча 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Плечо – размер возможного займа для покупки крипты, акций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итд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. Плечо «3х» подразумевает что с суммой в 100 рублей можно купить на 300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руб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займ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в 200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руб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). Стоит обращать внимание на проценты по такому займу.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3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07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Критерии оценивания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785113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1364426605"/>
                    </a:ext>
                  </a:extLst>
                </a:gridCol>
                <a:gridCol w="8858250">
                  <a:extLst>
                    <a:ext uri="{9D8B030D-6E8A-4147-A177-3AD203B41FA5}">
                      <a16:colId xmlns:a16="http://schemas.microsoft.com/office/drawing/2014/main" val="3460149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Возможность «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шортить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»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Шортить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– игра на понижение. При такой сделке биржа дает пользователю в долг актив который он собрался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шортить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. Например Миша решил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зашортить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1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, цена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биткоина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1млн руб. Биржа дает Мише 1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в долг. Михаил после получения 1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биткоина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продает его и получает 1 млн рублей на счет. Далее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упал в цене до 0.5 млн и Миша закрыл сделку. Закрывая сделку Михаил должен купить биток и моментально вернуть 1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бирже, а разницу в цене оставил себе (0.5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ляма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). Стоит понимать что на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займ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1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биткоина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облагается процентами как и любой другой кредит, то есть чем дольше </a:t>
                      </a:r>
                      <a:r>
                        <a:rPr lang="ru-RU" sz="1800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шортишь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 тем больше денег набежит в процентах по кредиту.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42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+mj-lt"/>
                          <a:ea typeface="Calibri" panose="020F0502020204030204" pitchFamily="34" charset="0"/>
                        </a:rPr>
                        <a:t>Защита аккаунта 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Обычно с помощью одной лишь взломанной почты мошенник может завладеть аккаунтом. Для того чтобы этого не произошло нужно смотреть есть ли </a:t>
                      </a:r>
                      <a:r>
                        <a:rPr lang="ru-RU" sz="18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привязка аккаунта по </a:t>
                      </a:r>
                      <a:r>
                        <a:rPr lang="en-US" sz="1800" b="1" dirty="0" err="1">
                          <a:effectLst/>
                          <a:latin typeface="+mj-lt"/>
                          <a:ea typeface="Calibri" panose="020F0502020204030204" pitchFamily="34" charset="0"/>
                        </a:rPr>
                        <a:t>ip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. 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Также 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на бирже обязательно </a:t>
                      </a:r>
                      <a:r>
                        <a:rPr lang="ru-RU" sz="1800" dirty="0" err="1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должена</a:t>
                      </a:r>
                      <a:r>
                        <a:rPr lang="ru-RU" sz="1800" dirty="0" smtClean="0">
                          <a:effectLst/>
                          <a:latin typeface="+mj-lt"/>
                          <a:ea typeface="Calibri" panose="020F0502020204030204" pitchFamily="34" charset="0"/>
                        </a:rPr>
                        <a:t> быть привязка </a:t>
                      </a:r>
                      <a:r>
                        <a:rPr lang="en-US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Google Authenticator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. </a:t>
                      </a:r>
                      <a:r>
                        <a:rPr lang="en-US" sz="18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Google Authenticator </a:t>
                      </a:r>
                      <a:r>
                        <a:rPr lang="ru-RU" sz="1800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– приложение на телефон которое генерирует ключи для входа.</a:t>
                      </a: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795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18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Binance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+mj-lt"/>
              </a:rPr>
              <a:t>Явным лидером выступает </a:t>
            </a:r>
            <a:r>
              <a:rPr lang="en-US" dirty="0" err="1" smtClean="0">
                <a:latin typeface="+mj-lt"/>
              </a:rPr>
              <a:t>Binance</a:t>
            </a:r>
            <a:r>
              <a:rPr lang="en-US" dirty="0" smtClean="0">
                <a:latin typeface="+mj-lt"/>
              </a:rPr>
              <a:t>. </a:t>
            </a:r>
            <a:r>
              <a:rPr lang="ru-RU" dirty="0" smtClean="0">
                <a:latin typeface="+mj-lt"/>
              </a:rPr>
              <a:t>По всем критериям подходит для использования. </a:t>
            </a:r>
          </a:p>
          <a:p>
            <a:pPr marL="0" indent="0">
              <a:buNone/>
            </a:pPr>
            <a:r>
              <a:rPr lang="en-US" b="1" dirty="0" smtClean="0">
                <a:latin typeface="+mj-lt"/>
              </a:rPr>
              <a:t>	</a:t>
            </a:r>
            <a:r>
              <a:rPr lang="ru-RU" b="1" dirty="0" smtClean="0">
                <a:latin typeface="+mj-lt"/>
              </a:rPr>
              <a:t>Минусы данной </a:t>
            </a:r>
            <a:r>
              <a:rPr lang="ru-RU" b="1" dirty="0" err="1" smtClean="0">
                <a:latin typeface="+mj-lt"/>
              </a:rPr>
              <a:t>биржы</a:t>
            </a:r>
            <a:r>
              <a:rPr lang="ru-RU" b="1" dirty="0" smtClean="0">
                <a:latin typeface="+mj-lt"/>
              </a:rPr>
              <a:t>:</a:t>
            </a:r>
            <a:endParaRPr lang="ru-RU" b="1" dirty="0">
              <a:latin typeface="+mj-lt"/>
            </a:endParaRPr>
          </a:p>
          <a:p>
            <a:r>
              <a:rPr lang="ru-RU" dirty="0" smtClean="0">
                <a:latin typeface="+mj-lt"/>
              </a:rPr>
              <a:t>Обязательно нужно подтвердить личность на вывод</a:t>
            </a:r>
          </a:p>
          <a:p>
            <a:pPr marL="0" indent="0">
              <a:buNone/>
            </a:pPr>
            <a:r>
              <a:rPr lang="en-US" b="1" dirty="0" smtClean="0">
                <a:latin typeface="+mj-lt"/>
              </a:rPr>
              <a:t>	</a:t>
            </a:r>
            <a:r>
              <a:rPr lang="ru-RU" b="1" dirty="0" smtClean="0">
                <a:latin typeface="+mj-lt"/>
              </a:rPr>
              <a:t>Особенные плюсы:</a:t>
            </a:r>
          </a:p>
          <a:p>
            <a:r>
              <a:rPr lang="ru-RU" dirty="0">
                <a:latin typeface="+mj-lt"/>
              </a:rPr>
              <a:t>Архангельский областной суд отменил решение о блокировке сайта </a:t>
            </a:r>
            <a:r>
              <a:rPr lang="ru-RU" dirty="0" err="1">
                <a:latin typeface="+mj-lt"/>
              </a:rPr>
              <a:t>криптобиржи</a:t>
            </a:r>
            <a:r>
              <a:rPr lang="ru-RU" dirty="0">
                <a:latin typeface="+mj-lt"/>
              </a:rPr>
              <a:t> </a:t>
            </a:r>
            <a:r>
              <a:rPr lang="ru-RU" dirty="0" err="1">
                <a:latin typeface="+mj-lt"/>
              </a:rPr>
              <a:t>Binance</a:t>
            </a:r>
            <a:r>
              <a:rPr lang="ru-RU" dirty="0">
                <a:latin typeface="+mj-lt"/>
              </a:rPr>
              <a:t> на территории России, говорится в сообщении компании</a:t>
            </a:r>
            <a:r>
              <a:rPr lang="ru-RU" dirty="0" smtClean="0">
                <a:latin typeface="+mj-lt"/>
              </a:rPr>
              <a:t>.</a:t>
            </a:r>
            <a:r>
              <a:rPr lang="en-US" dirty="0" smtClean="0">
                <a:latin typeface="+mj-lt"/>
              </a:rPr>
              <a:t> </a:t>
            </a:r>
            <a:r>
              <a:rPr lang="ru-RU" dirty="0" smtClean="0">
                <a:latin typeface="+mj-lt"/>
              </a:rPr>
              <a:t>Биржа старается не потерять славянский рынок.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885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Binance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581536" y="4475501"/>
            <a:ext cx="10515600" cy="170146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Без подтверждения личности лимит </a:t>
            </a:r>
            <a:r>
              <a:rPr lang="ru-RU" dirty="0" err="1" smtClean="0"/>
              <a:t>фиата</a:t>
            </a:r>
            <a:r>
              <a:rPr lang="ru-RU" dirty="0" smtClean="0"/>
              <a:t> (рублей) </a:t>
            </a:r>
            <a:r>
              <a:rPr lang="en-US" dirty="0" smtClean="0"/>
              <a:t>$</a:t>
            </a:r>
            <a:r>
              <a:rPr lang="ru-RU" dirty="0" smtClean="0"/>
              <a:t>300 – </a:t>
            </a:r>
            <a:r>
              <a:rPr lang="ru-RU" u="sng" dirty="0" smtClean="0"/>
              <a:t>обязательно нужно подтвердить личность</a:t>
            </a:r>
            <a:r>
              <a:rPr lang="en-US" u="sng" dirty="0" smtClean="0"/>
              <a:t> </a:t>
            </a:r>
            <a:endParaRPr lang="ru-RU" u="sng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9612" r="1350" b="46104"/>
          <a:stretch/>
        </p:blipFill>
        <p:spPr>
          <a:xfrm>
            <a:off x="581536" y="1027906"/>
            <a:ext cx="11028928" cy="278481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20307" t="68223" r="64466" b="24887"/>
          <a:stretch/>
        </p:blipFill>
        <p:spPr>
          <a:xfrm>
            <a:off x="2793534" y="3789702"/>
            <a:ext cx="2306972" cy="58723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40683" t="68223" r="42529" b="24887"/>
          <a:stretch/>
        </p:blipFill>
        <p:spPr>
          <a:xfrm>
            <a:off x="5157657" y="3789702"/>
            <a:ext cx="2543438" cy="58723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5552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 smtClean="0"/>
              <a:t>Binance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1032" name="Picture 8" descr="Как пройти проверку персональных данных | Binanc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7" y="1027906"/>
            <a:ext cx="363880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/>
          <p:cNvSpPr txBox="1">
            <a:spLocks/>
          </p:cNvSpPr>
          <p:nvPr/>
        </p:nvSpPr>
        <p:spPr>
          <a:xfrm>
            <a:off x="4211709" y="1105693"/>
            <a:ext cx="371462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 smtClean="0">
                <a:latin typeface="+mj-lt"/>
              </a:rPr>
              <a:t>Выбираем верификацию по паспорту. Когда понадобится отсканировать </a:t>
            </a:r>
            <a:r>
              <a:rPr lang="en-US" sz="2400" dirty="0" smtClean="0">
                <a:latin typeface="+mj-lt"/>
              </a:rPr>
              <a:t>QR </a:t>
            </a:r>
            <a:r>
              <a:rPr lang="ru-RU" sz="2400" dirty="0" smtClean="0">
                <a:latin typeface="+mj-lt"/>
              </a:rPr>
              <a:t>код, в приложении </a:t>
            </a:r>
            <a:r>
              <a:rPr lang="ru-RU" sz="2400" u="sng" dirty="0" smtClean="0">
                <a:latin typeface="+mj-lt"/>
              </a:rPr>
              <a:t>на телефоне </a:t>
            </a:r>
            <a:r>
              <a:rPr lang="ru-RU" sz="2400" dirty="0" smtClean="0">
                <a:latin typeface="+mj-lt"/>
              </a:rPr>
              <a:t>нажимаем кнопку с картинки справа и </a:t>
            </a:r>
            <a:r>
              <a:rPr lang="ru-RU" sz="2400" dirty="0" err="1" smtClean="0">
                <a:latin typeface="+mj-lt"/>
              </a:rPr>
              <a:t>допроходим</a:t>
            </a:r>
            <a:r>
              <a:rPr lang="ru-RU" sz="2400" dirty="0" smtClean="0">
                <a:latin typeface="+mj-lt"/>
              </a:rPr>
              <a:t> верификацию</a:t>
            </a:r>
            <a:endParaRPr lang="ru-RU" sz="2400" dirty="0">
              <a:latin typeface="+mj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91"/>
          <a:stretch/>
        </p:blipFill>
        <p:spPr>
          <a:xfrm>
            <a:off x="8185037" y="1105693"/>
            <a:ext cx="3168763" cy="41497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474778" y="1450973"/>
            <a:ext cx="416379" cy="3184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низ 12"/>
          <p:cNvSpPr/>
          <p:nvPr/>
        </p:nvSpPr>
        <p:spPr>
          <a:xfrm>
            <a:off x="10531929" y="405945"/>
            <a:ext cx="302078" cy="1045028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98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 smtClean="0"/>
              <a:t>Binance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7496526" y="1126727"/>
            <a:ext cx="42890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463216" y="1076890"/>
            <a:ext cx="42890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Ссылки к более подробному ознакомлению:</a:t>
            </a:r>
          </a:p>
          <a:p>
            <a:pPr marL="0" indent="0">
              <a:buNone/>
            </a:pPr>
            <a:r>
              <a:rPr lang="ru-RU" sz="2400" dirty="0"/>
              <a:t>Проценты по маржинальной торговле </a:t>
            </a:r>
            <a:endParaRPr lang="ru-RU" sz="2400" dirty="0" smtClean="0">
              <a:hlinkClick r:id="rId2"/>
            </a:endParaRPr>
          </a:p>
          <a:p>
            <a:pPr marL="0" indent="0">
              <a:buNone/>
            </a:pPr>
            <a:r>
              <a:rPr lang="en-US" sz="2400" dirty="0" smtClean="0">
                <a:hlinkClick r:id="rId2"/>
              </a:rPr>
              <a:t>https</a:t>
            </a:r>
            <a:r>
              <a:rPr lang="en-US" sz="2400" dirty="0">
                <a:hlinkClick r:id="rId2"/>
              </a:rPr>
              <a:t>://www.binance.com/ru/margin-fee</a:t>
            </a:r>
            <a:r>
              <a:rPr lang="en-US" sz="2400" dirty="0"/>
              <a:t>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Условия </a:t>
            </a:r>
            <a:r>
              <a:rPr lang="ru-RU" sz="2400" dirty="0"/>
              <a:t>маржинальной торговли </a:t>
            </a:r>
            <a:r>
              <a:rPr lang="en-US" sz="2400" dirty="0">
                <a:hlinkClick r:id="rId3"/>
              </a:rPr>
              <a:t>https://www.binance.com/ru/support/faq/360041505471</a:t>
            </a:r>
            <a:endParaRPr lang="en-US" sz="2400" dirty="0"/>
          </a:p>
          <a:p>
            <a:pPr marL="0" indent="0">
              <a:buNone/>
            </a:pPr>
            <a:r>
              <a:rPr lang="ru-RU" sz="2400" dirty="0"/>
              <a:t>Условия ликвидации</a:t>
            </a:r>
          </a:p>
          <a:p>
            <a:pPr marL="0" indent="0">
              <a:buNone/>
            </a:pPr>
            <a:r>
              <a:rPr lang="en-US" sz="2400" dirty="0">
                <a:hlinkClick r:id="rId4"/>
              </a:rPr>
              <a:t>https://www.binance.com/en/support/faq/360033525271</a:t>
            </a: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5908508" y="1076890"/>
            <a:ext cx="42890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По ссылке находится </a:t>
            </a:r>
            <a:r>
              <a:rPr lang="ru-RU" sz="2400" dirty="0" smtClean="0">
                <a:latin typeface="+mj-lt"/>
              </a:rPr>
              <a:t>видео </a:t>
            </a:r>
            <a:r>
              <a:rPr lang="ru-RU" sz="2400" dirty="0" err="1" smtClean="0">
                <a:latin typeface="+mj-lt"/>
              </a:rPr>
              <a:t>гайд</a:t>
            </a:r>
            <a:r>
              <a:rPr lang="ru-RU" sz="2400" dirty="0" smtClean="0">
                <a:latin typeface="+mj-lt"/>
              </a:rPr>
              <a:t> по торговому терминалу </a:t>
            </a:r>
            <a:r>
              <a:rPr lang="en-US" sz="2400" dirty="0" err="1" smtClean="0">
                <a:latin typeface="+mj-lt"/>
              </a:rPr>
              <a:t>Binance</a:t>
            </a:r>
            <a:r>
              <a:rPr lang="en-US" sz="2400" dirty="0" smtClean="0">
                <a:latin typeface="+mj-lt"/>
              </a:rPr>
              <a:t>. </a:t>
            </a:r>
            <a:r>
              <a:rPr lang="ru-RU" sz="2400" dirty="0" smtClean="0">
                <a:latin typeface="+mj-lt"/>
              </a:rPr>
              <a:t>В данном видео под «Долларом» имеется ввиду </a:t>
            </a:r>
            <a:r>
              <a:rPr lang="ru-RU" sz="2400" dirty="0" err="1" smtClean="0">
                <a:latin typeface="+mj-lt"/>
              </a:rPr>
              <a:t>стэйбл-коин</a:t>
            </a:r>
            <a:r>
              <a:rPr lang="ru-RU" sz="2400" dirty="0" smtClean="0">
                <a:latin typeface="+mj-lt"/>
              </a:rPr>
              <a:t> привязанный к  курсу </a:t>
            </a:r>
            <a:r>
              <a:rPr lang="ru-RU" sz="2400" dirty="0" smtClean="0">
                <a:latin typeface="+mj-lt"/>
              </a:rPr>
              <a:t>доллара </a:t>
            </a:r>
            <a:r>
              <a:rPr lang="en-US" sz="2400" dirty="0">
                <a:latin typeface="+mj-lt"/>
                <a:hlinkClick r:id="rId5"/>
              </a:rPr>
              <a:t>https://</a:t>
            </a:r>
            <a:r>
              <a:rPr lang="en-US" sz="2400" dirty="0" smtClean="0">
                <a:latin typeface="+mj-lt"/>
                <a:hlinkClick r:id="rId5"/>
              </a:rPr>
              <a:t>drive.google.com/file/d/1WANtBp8pEQZZZB_pdDKVGIV6LeF8GCAk/view?usp=sharing</a:t>
            </a: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283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463215" y="1180306"/>
            <a:ext cx="810021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Вывод рублей </a:t>
            </a:r>
            <a:r>
              <a:rPr lang="ru-RU" sz="2400" b="1" dirty="0" smtClean="0">
                <a:latin typeface="+mj-lt"/>
              </a:rPr>
              <a:t>на карту </a:t>
            </a:r>
            <a:r>
              <a:rPr lang="ru-RU" sz="2400" dirty="0" smtClean="0">
                <a:latin typeface="+mj-lt"/>
              </a:rPr>
              <a:t>с </a:t>
            </a:r>
            <a:r>
              <a:rPr lang="en-US" sz="2400" dirty="0" err="1" smtClean="0">
                <a:latin typeface="+mj-lt"/>
              </a:rPr>
              <a:t>Binance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+mj-lt"/>
              </a:rPr>
              <a:t>1. </a:t>
            </a:r>
            <a:r>
              <a:rPr lang="ru-RU" sz="2400" dirty="0" smtClean="0">
                <a:latin typeface="+mj-lt"/>
              </a:rPr>
              <a:t>Через саму биржу, комиссия фиксированная 250р</a:t>
            </a:r>
            <a:endParaRPr lang="en-US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Binance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l="14365" t="14268" r="3492" b="12082"/>
          <a:stretch/>
        </p:blipFill>
        <p:spPr>
          <a:xfrm>
            <a:off x="463216" y="2119086"/>
            <a:ext cx="7741370" cy="39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0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463215" y="1180306"/>
            <a:ext cx="122803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Вывод рублей </a:t>
            </a:r>
            <a:r>
              <a:rPr lang="ru-RU" sz="2400" b="1" dirty="0" smtClean="0">
                <a:latin typeface="+mj-lt"/>
              </a:rPr>
              <a:t>на карту </a:t>
            </a:r>
            <a:r>
              <a:rPr lang="ru-RU" sz="2400" dirty="0" smtClean="0">
                <a:latin typeface="+mj-lt"/>
              </a:rPr>
              <a:t>с </a:t>
            </a:r>
            <a:r>
              <a:rPr lang="en-US" sz="2400" dirty="0" err="1" smtClean="0">
                <a:latin typeface="+mj-lt"/>
              </a:rPr>
              <a:t>Binance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2</a:t>
            </a:r>
            <a:r>
              <a:rPr lang="en-US" sz="2400" dirty="0" smtClean="0">
                <a:latin typeface="+mj-lt"/>
              </a:rPr>
              <a:t>. </a:t>
            </a:r>
            <a:r>
              <a:rPr lang="ru-RU" sz="2400" dirty="0" smtClean="0">
                <a:latin typeface="+mj-lt"/>
              </a:rPr>
              <a:t>Через </a:t>
            </a:r>
            <a:r>
              <a:rPr lang="en-US" sz="2400" dirty="0" smtClean="0">
                <a:latin typeface="+mj-lt"/>
              </a:rPr>
              <a:t>p2p </a:t>
            </a:r>
            <a:r>
              <a:rPr lang="ru-RU" sz="2400" dirty="0" smtClean="0">
                <a:latin typeface="+mj-lt"/>
              </a:rPr>
              <a:t>биржу </a:t>
            </a:r>
            <a:r>
              <a:rPr lang="en-US" sz="2400" dirty="0" err="1" smtClean="0">
                <a:latin typeface="+mj-lt"/>
              </a:rPr>
              <a:t>Binance</a:t>
            </a:r>
            <a:r>
              <a:rPr lang="ru-RU" sz="2400" dirty="0" smtClean="0">
                <a:latin typeface="+mj-lt"/>
              </a:rPr>
              <a:t> с нулевой комиссией</a:t>
            </a:r>
            <a:r>
              <a:rPr lang="ru-RU" sz="2400" dirty="0">
                <a:latin typeface="+mj-lt"/>
              </a:rPr>
              <a:t>.</a:t>
            </a:r>
            <a:r>
              <a:rPr lang="en-US" sz="2400" dirty="0" smtClean="0">
                <a:latin typeface="+mj-lt"/>
              </a:rPr>
              <a:t> </a:t>
            </a:r>
            <a:r>
              <a:rPr lang="ru-RU" sz="2400" dirty="0" smtClean="0">
                <a:latin typeface="+mj-lt"/>
              </a:rPr>
              <a:t>Принцип работы </a:t>
            </a:r>
            <a:r>
              <a:rPr lang="ru-RU" sz="2400" dirty="0" err="1" smtClean="0">
                <a:latin typeface="+mj-lt"/>
              </a:rPr>
              <a:t>биржы</a:t>
            </a:r>
            <a:r>
              <a:rPr lang="ru-RU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p2p </a:t>
            </a:r>
            <a:r>
              <a:rPr lang="ru-RU" sz="2400" dirty="0" smtClean="0">
                <a:latin typeface="+mj-lt"/>
              </a:rPr>
              <a:t>смотри в обучающем видео </a:t>
            </a:r>
            <a:r>
              <a:rPr lang="en-US" sz="2400" dirty="0" smtClean="0">
                <a:latin typeface="+mj-lt"/>
                <a:hlinkClick r:id="rId2"/>
              </a:rPr>
              <a:t>https</a:t>
            </a:r>
            <a:r>
              <a:rPr lang="en-US" sz="2400" dirty="0">
                <a:latin typeface="+mj-lt"/>
                <a:hlinkClick r:id="rId2"/>
              </a:rPr>
              <a:t>://</a:t>
            </a:r>
            <a:r>
              <a:rPr lang="en-US" sz="2400" dirty="0" smtClean="0">
                <a:latin typeface="+mj-lt"/>
                <a:hlinkClick r:id="rId2"/>
              </a:rPr>
              <a:t>p2p.binance.com/ru/quickTrade/buy/USDT/RUB</a:t>
            </a:r>
            <a:endParaRPr lang="ru-RU" sz="2400" dirty="0">
              <a:latin typeface="+mj-lt"/>
            </a:endParaRPr>
          </a:p>
          <a:p>
            <a:pPr marL="0" indent="0">
              <a:buNone/>
            </a:pPr>
            <a:endParaRPr lang="en-US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Binance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t="10741" r="2102" b="22945"/>
          <a:stretch/>
        </p:blipFill>
        <p:spPr>
          <a:xfrm>
            <a:off x="1184275" y="2588662"/>
            <a:ext cx="9463314" cy="360576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33235" y="3508828"/>
            <a:ext cx="940526" cy="348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 rot="10800000">
            <a:off x="7018520" y="3948020"/>
            <a:ext cx="635088" cy="1144773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25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463215" y="1180306"/>
            <a:ext cx="122803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Ввод рублей </a:t>
            </a:r>
            <a:r>
              <a:rPr lang="ru-RU" sz="2400" b="1" dirty="0" smtClean="0">
                <a:latin typeface="+mj-lt"/>
              </a:rPr>
              <a:t>на </a:t>
            </a:r>
            <a:r>
              <a:rPr lang="en-US" sz="2400" b="1" dirty="0" err="1" smtClean="0">
                <a:latin typeface="+mj-lt"/>
              </a:rPr>
              <a:t>Binance</a:t>
            </a:r>
            <a:r>
              <a:rPr lang="ru-RU" sz="2400" b="1" dirty="0">
                <a:latin typeface="+mj-lt"/>
              </a:rPr>
              <a:t> </a:t>
            </a:r>
            <a:r>
              <a:rPr lang="ru-RU" sz="2400" dirty="0" smtClean="0">
                <a:latin typeface="+mj-lt"/>
              </a:rPr>
              <a:t>с карты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ru-RU" sz="2400" dirty="0" smtClean="0">
                <a:latin typeface="+mj-lt"/>
              </a:rPr>
              <a:t>Напрямую комиссия 3.3%</a:t>
            </a:r>
            <a:r>
              <a:rPr lang="en-US" sz="2400" dirty="0" smtClean="0">
                <a:latin typeface="+mj-lt"/>
              </a:rPr>
              <a:t> 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Binance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33235" y="3508828"/>
            <a:ext cx="940526" cy="3487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 rot="10800000">
            <a:off x="7018520" y="3948020"/>
            <a:ext cx="635088" cy="1144773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t="10458" r="8571" b="11798"/>
          <a:stretch/>
        </p:blipFill>
        <p:spPr>
          <a:xfrm>
            <a:off x="990600" y="2134255"/>
            <a:ext cx="9977662" cy="47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2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/>
          <p:cNvSpPr txBox="1">
            <a:spLocks/>
          </p:cNvSpPr>
          <p:nvPr/>
        </p:nvSpPr>
        <p:spPr>
          <a:xfrm>
            <a:off x="463215" y="1180306"/>
            <a:ext cx="11728785" cy="145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Ввод крипты </a:t>
            </a:r>
            <a:r>
              <a:rPr lang="ru-RU" sz="2400" b="1" dirty="0" smtClean="0">
                <a:latin typeface="+mj-lt"/>
              </a:rPr>
              <a:t>на </a:t>
            </a:r>
            <a:r>
              <a:rPr lang="en-US" sz="2400" b="1" dirty="0" err="1" smtClean="0">
                <a:latin typeface="+mj-lt"/>
              </a:rPr>
              <a:t>Binance</a:t>
            </a:r>
            <a:r>
              <a:rPr lang="ru-RU" sz="2400" b="1" dirty="0">
                <a:latin typeface="+mj-lt"/>
              </a:rPr>
              <a:t> </a:t>
            </a:r>
            <a:r>
              <a:rPr lang="ru-RU" sz="2400" dirty="0" smtClean="0">
                <a:latin typeface="+mj-lt"/>
              </a:rPr>
              <a:t>с кошелька</a:t>
            </a:r>
            <a:r>
              <a:rPr lang="en-US" sz="2400" dirty="0" smtClean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ru-RU" sz="2400" dirty="0" smtClean="0">
                <a:latin typeface="+mj-lt"/>
              </a:rPr>
              <a:t>Есть возможность купить крипту в </a:t>
            </a:r>
            <a:r>
              <a:rPr lang="ru-RU" sz="2400" dirty="0" err="1" smtClean="0">
                <a:latin typeface="+mj-lt"/>
              </a:rPr>
              <a:t>обменнике</a:t>
            </a:r>
            <a:r>
              <a:rPr lang="ru-RU" sz="2400" dirty="0" smtClean="0">
                <a:latin typeface="+mj-lt"/>
              </a:rPr>
              <a:t> и перевести с него а </a:t>
            </a:r>
            <a:r>
              <a:rPr lang="ru-RU" sz="2400" dirty="0" err="1" smtClean="0">
                <a:latin typeface="+mj-lt"/>
              </a:rPr>
              <a:t>бинанс</a:t>
            </a:r>
            <a:r>
              <a:rPr lang="ru-RU" sz="2400" dirty="0" smtClean="0">
                <a:latin typeface="+mj-lt"/>
              </a:rPr>
              <a:t>, однако такой вариант точно выйдет дороже (комиссия обычно 4%).</a:t>
            </a: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Binance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22857" t="11446" r="23333" b="7706"/>
          <a:stretch/>
        </p:blipFill>
        <p:spPr>
          <a:xfrm>
            <a:off x="624113" y="2631709"/>
            <a:ext cx="4528457" cy="3827148"/>
          </a:xfrm>
          <a:prstGeom prst="rect">
            <a:avLst/>
          </a:prstGeom>
        </p:spPr>
      </p:pic>
      <p:sp>
        <p:nvSpPr>
          <p:cNvPr id="8" name="Объект 2"/>
          <p:cNvSpPr txBox="1">
            <a:spLocks/>
          </p:cNvSpPr>
          <p:nvPr/>
        </p:nvSpPr>
        <p:spPr>
          <a:xfrm>
            <a:off x="5313469" y="2784135"/>
            <a:ext cx="6675332" cy="3848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latin typeface="+mj-lt"/>
              </a:rPr>
              <a:t>Ссылка на список </a:t>
            </a:r>
            <a:r>
              <a:rPr lang="ru-RU" sz="2400" dirty="0" err="1" smtClean="0">
                <a:latin typeface="+mj-lt"/>
              </a:rPr>
              <a:t>обменников</a:t>
            </a:r>
            <a:r>
              <a:rPr lang="ru-RU" sz="2400" dirty="0" smtClean="0">
                <a:latin typeface="+mj-lt"/>
              </a:rPr>
              <a:t>: </a:t>
            </a:r>
            <a:r>
              <a:rPr lang="en-US" sz="2400" dirty="0">
                <a:latin typeface="+mj-lt"/>
                <a:hlinkClick r:id="rId3"/>
              </a:rPr>
              <a:t>https://www.bestchange.ru</a:t>
            </a:r>
            <a:r>
              <a:rPr lang="en-US" sz="2400" dirty="0" smtClean="0">
                <a:latin typeface="+mj-lt"/>
                <a:hlinkClick r:id="rId3"/>
              </a:rPr>
              <a:t>/</a:t>
            </a: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  <a:p>
            <a:pPr marL="0" indent="0">
              <a:buNone/>
            </a:pPr>
            <a:r>
              <a:rPr lang="ru-RU" sz="2400" dirty="0" smtClean="0">
                <a:latin typeface="+mj-lt"/>
              </a:rPr>
              <a:t>Ссылка на </a:t>
            </a:r>
            <a:r>
              <a:rPr lang="ru-RU" sz="2400" dirty="0" err="1" smtClean="0">
                <a:latin typeface="+mj-lt"/>
              </a:rPr>
              <a:t>гайд</a:t>
            </a:r>
            <a:r>
              <a:rPr lang="ru-RU" sz="2400" dirty="0" smtClean="0">
                <a:latin typeface="+mj-lt"/>
              </a:rPr>
              <a:t>: </a:t>
            </a:r>
            <a:r>
              <a:rPr lang="en-US" sz="2400" dirty="0">
                <a:latin typeface="+mj-lt"/>
                <a:hlinkClick r:id="rId4"/>
              </a:rPr>
              <a:t>https://</a:t>
            </a:r>
            <a:r>
              <a:rPr lang="en-US" sz="2400" dirty="0" smtClean="0">
                <a:latin typeface="+mj-lt"/>
                <a:hlinkClick r:id="rId4"/>
              </a:rPr>
              <a:t>www.youtube.com/watch?v=r3SqLCYFCCY&amp;t=433s</a:t>
            </a: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 smtClean="0">
              <a:latin typeface="+mj-lt"/>
            </a:endParaRPr>
          </a:p>
          <a:p>
            <a:pPr marL="0" indent="0">
              <a:buNone/>
            </a:pP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222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812</Words>
  <Application>Microsoft Office PowerPoint</Application>
  <PresentationFormat>Широкоэкранный</PresentationFormat>
  <Paragraphs>73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Биржи</vt:lpstr>
      <vt:lpstr>Содержание </vt:lpstr>
      <vt:lpstr>Критерии оценивания</vt:lpstr>
      <vt:lpstr>Критерии оценивания</vt:lpstr>
      <vt:lpstr>Критерии оценивания</vt:lpstr>
      <vt:lpstr>Критерии оценивания</vt:lpstr>
      <vt:lpstr>Binance </vt:lpstr>
      <vt:lpstr>Binance </vt:lpstr>
      <vt:lpstr>Binance </vt:lpstr>
      <vt:lpstr>Binance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Биржи</dc:title>
  <dc:creator>Пользователь Windows</dc:creator>
  <cp:lastModifiedBy>Пользователь Windows</cp:lastModifiedBy>
  <cp:revision>32</cp:revision>
  <dcterms:created xsi:type="dcterms:W3CDTF">2021-06-24T19:52:08Z</dcterms:created>
  <dcterms:modified xsi:type="dcterms:W3CDTF">2021-07-05T16:15:28Z</dcterms:modified>
</cp:coreProperties>
</file>