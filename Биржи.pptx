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82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3373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3776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509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67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606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974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3585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2718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7696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119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8778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56F467-EEEA-41AD-A12C-D182249B7258}" type="datetimeFigureOut">
              <a:rPr lang="ru-RU" smtClean="0"/>
              <a:t>12.07.2021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A02F28-A491-48E3-A0DE-BB7A9A3E8E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7361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inmarketcap.com/ru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binance.com/en/fee/fiatFee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ance.com/ru/support/faq/360041505471" TargetMode="External"/><Relationship Id="rId2" Type="http://schemas.openxmlformats.org/officeDocument/2006/relationships/hyperlink" Target="https://www.binance.com/ru/margin-fe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rive.google.com/file/d/1jmw5esnpEH58aimDPDxgIE5qI0K6CpMd/view?usp=sharing" TargetMode="External"/><Relationship Id="rId4" Type="http://schemas.openxmlformats.org/officeDocument/2006/relationships/hyperlink" Target="https://www.binance.com/en/support/faq/360033525271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estchange.ru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r3SqLCYFCCY&amp;t=433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033137" y="2444363"/>
            <a:ext cx="4097155" cy="1191306"/>
          </a:xfrm>
        </p:spPr>
        <p:txBody>
          <a:bodyPr anchor="ctr">
            <a:normAutofit/>
          </a:bodyPr>
          <a:lstStyle/>
          <a:p>
            <a:r>
              <a:rPr lang="ru-RU" sz="8000" dirty="0" smtClean="0"/>
              <a:t>Биржи</a:t>
            </a:r>
            <a:endParaRPr lang="ru-RU" sz="8000" dirty="0"/>
          </a:p>
        </p:txBody>
      </p:sp>
    </p:spTree>
    <p:extLst>
      <p:ext uri="{BB962C8B-B14F-4D97-AF65-F5344CB8AC3E}">
        <p14:creationId xmlns:p14="http://schemas.microsoft.com/office/powerpoint/2010/main" val="126215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96492" y="152855"/>
            <a:ext cx="2999015" cy="58193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Содержание 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6373060"/>
              </p:ext>
            </p:extLst>
          </p:nvPr>
        </p:nvGraphicFramePr>
        <p:xfrm>
          <a:off x="838200" y="96837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77450">
                  <a:extLst>
                    <a:ext uri="{9D8B030D-6E8A-4147-A177-3AD203B41FA5}">
                      <a16:colId xmlns:a16="http://schemas.microsoft.com/office/drawing/2014/main" val="2625384462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2025267"/>
                    </a:ext>
                  </a:extLst>
                </a:gridCol>
              </a:tblGrid>
              <a:tr h="3242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Критерии оценивания.......................................................................................................................................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3110379"/>
                  </a:ext>
                </a:extLst>
              </a:tr>
              <a:tr h="3242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About Binance</a:t>
                      </a:r>
                      <a:r>
                        <a:rPr lang="ru-RU" dirty="0" smtClean="0"/>
                        <a:t>.....................................................................................................................................................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 smtClean="0"/>
                        <a:t>6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616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Верификация </a:t>
                      </a:r>
                      <a:r>
                        <a:rPr lang="en-US" dirty="0" smtClean="0"/>
                        <a:t>Binance</a:t>
                      </a:r>
                      <a:r>
                        <a:rPr lang="ru-RU" dirty="0" smtClean="0"/>
                        <a:t>........................................................................................................................................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 smtClean="0"/>
                        <a:t>7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591693"/>
                  </a:ext>
                </a:extLst>
              </a:tr>
              <a:tr h="32421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Ввод </a:t>
                      </a:r>
                      <a:r>
                        <a:rPr lang="en-US" dirty="0" smtClean="0"/>
                        <a:t>Binance</a:t>
                      </a:r>
                      <a:r>
                        <a:rPr lang="ru-RU" dirty="0" smtClean="0"/>
                        <a:t>......................................................................................................................................................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 smtClean="0"/>
                        <a:t>9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62593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72262"/>
              </p:ext>
            </p:extLst>
          </p:nvPr>
        </p:nvGraphicFramePr>
        <p:xfrm>
          <a:off x="838199" y="2802255"/>
          <a:ext cx="105156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85615">
                  <a:extLst>
                    <a:ext uri="{9D8B030D-6E8A-4147-A177-3AD203B41FA5}">
                      <a16:colId xmlns:a16="http://schemas.microsoft.com/office/drawing/2014/main" val="3545528573"/>
                    </a:ext>
                  </a:extLst>
                </a:gridCol>
                <a:gridCol w="429985">
                  <a:extLst>
                    <a:ext uri="{9D8B030D-6E8A-4147-A177-3AD203B41FA5}">
                      <a16:colId xmlns:a16="http://schemas.microsoft.com/office/drawing/2014/main" val="13413578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 smtClean="0"/>
                        <a:t>Ввод/Вывод </a:t>
                      </a:r>
                      <a:r>
                        <a:rPr lang="en-US" dirty="0" smtClean="0"/>
                        <a:t>p2p Binance</a:t>
                      </a:r>
                      <a:r>
                        <a:rPr lang="ru-RU" dirty="0" smtClean="0"/>
                        <a:t>...................................................................................................................................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11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7455437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22893"/>
              </p:ext>
            </p:extLst>
          </p:nvPr>
        </p:nvGraphicFramePr>
        <p:xfrm>
          <a:off x="838199" y="2431415"/>
          <a:ext cx="105156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85615">
                  <a:extLst>
                    <a:ext uri="{9D8B030D-6E8A-4147-A177-3AD203B41FA5}">
                      <a16:colId xmlns:a16="http://schemas.microsoft.com/office/drawing/2014/main" val="3545528573"/>
                    </a:ext>
                  </a:extLst>
                </a:gridCol>
                <a:gridCol w="429985">
                  <a:extLst>
                    <a:ext uri="{9D8B030D-6E8A-4147-A177-3AD203B41FA5}">
                      <a16:colId xmlns:a16="http://schemas.microsoft.com/office/drawing/2014/main" val="13413578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Вывод </a:t>
                      </a:r>
                      <a:r>
                        <a:rPr lang="en-US" dirty="0" smtClean="0"/>
                        <a:t>Binance</a:t>
                      </a:r>
                      <a:r>
                        <a:rPr lang="ru-RU" dirty="0" smtClean="0"/>
                        <a:t>....................................................................................................................................................</a:t>
                      </a:r>
                      <a:endParaRPr lang="ru-RU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 smtClean="0"/>
                        <a:t>10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7455437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227847"/>
              </p:ext>
            </p:extLst>
          </p:nvPr>
        </p:nvGraphicFramePr>
        <p:xfrm>
          <a:off x="838199" y="3173095"/>
          <a:ext cx="105156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69287">
                  <a:extLst>
                    <a:ext uri="{9D8B030D-6E8A-4147-A177-3AD203B41FA5}">
                      <a16:colId xmlns:a16="http://schemas.microsoft.com/office/drawing/2014/main" val="3545528573"/>
                    </a:ext>
                  </a:extLst>
                </a:gridCol>
                <a:gridCol w="446313">
                  <a:extLst>
                    <a:ext uri="{9D8B030D-6E8A-4147-A177-3AD203B41FA5}">
                      <a16:colId xmlns:a16="http://schemas.microsoft.com/office/drawing/2014/main" val="13413578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 smtClean="0"/>
                        <a:t>Binance</a:t>
                      </a:r>
                      <a:r>
                        <a:rPr lang="ru-RU" sz="1800" dirty="0" smtClean="0"/>
                        <a:t> торговля с плечом и </a:t>
                      </a:r>
                      <a:r>
                        <a:rPr lang="ru-RU" sz="1800" dirty="0" err="1" smtClean="0"/>
                        <a:t>гайд</a:t>
                      </a:r>
                      <a:r>
                        <a:rPr lang="ru-RU" sz="1800" dirty="0" smtClean="0"/>
                        <a:t> по торговому терминалу…………………………………………………………………….</a:t>
                      </a:r>
                      <a:endParaRPr lang="ru-RU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13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7455437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562888"/>
              </p:ext>
            </p:extLst>
          </p:nvPr>
        </p:nvGraphicFramePr>
        <p:xfrm>
          <a:off x="838199" y="3543935"/>
          <a:ext cx="1051560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28465">
                  <a:extLst>
                    <a:ext uri="{9D8B030D-6E8A-4147-A177-3AD203B41FA5}">
                      <a16:colId xmlns:a16="http://schemas.microsoft.com/office/drawing/2014/main" val="3545528573"/>
                    </a:ext>
                  </a:extLst>
                </a:gridCol>
                <a:gridCol w="487135">
                  <a:extLst>
                    <a:ext uri="{9D8B030D-6E8A-4147-A177-3AD203B41FA5}">
                      <a16:colId xmlns:a16="http://schemas.microsoft.com/office/drawing/2014/main" val="13413578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dirty="0" err="1" smtClean="0"/>
                        <a:t>Обменники</a:t>
                      </a:r>
                      <a:r>
                        <a:rPr lang="ru-RU" dirty="0" smtClean="0"/>
                        <a:t>………………………………………………………………………………………………………………………………………………….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 smtClean="0"/>
                        <a:t>14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7455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0654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Объект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4998846"/>
              </p:ext>
            </p:extLst>
          </p:nvPr>
        </p:nvGraphicFramePr>
        <p:xfrm>
          <a:off x="838200" y="968375"/>
          <a:ext cx="10515600" cy="3662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389795684"/>
                    </a:ext>
                  </a:extLst>
                </a:gridCol>
                <a:gridCol w="8877300">
                  <a:extLst>
                    <a:ext uri="{9D8B030D-6E8A-4147-A177-3AD203B41FA5}">
                      <a16:colId xmlns:a16="http://schemas.microsoft.com/office/drawing/2014/main" val="2504746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ctr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Название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Доп.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Иформация</a:t>
                      </a:r>
                      <a:endParaRPr lang="ru-RU" sz="180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953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Запрет на Россию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В пользовательском соглашении или на странице регистрации выписаны страны, граждане которых не могут быть клиентами. Проверка биржей документов клиента может быть запрошена по любой причине и без нее, по этому этот критерий важен.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939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Объем торговли 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(за 24ч)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1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Выбирать с объемом более 40 млн</a:t>
                      </a:r>
                      <a:r>
                        <a:rPr lang="en-US" sz="1800" b="1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$</a:t>
                      </a:r>
                      <a:r>
                        <a:rPr lang="ru-RU" sz="1800" b="1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Биржи </a:t>
                      </a: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с низким объемом имеют меньшую волатильность торгов. Это означает, что покупать и продавать на ней приходят меньше людей с меньшими суммами. Так же меньший оборот равняется меньшей прибыли биржи от торгов, как следствие больший риск ее падения. 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895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en-US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API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и боты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en-US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API 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Позволяет </a:t>
                      </a:r>
                      <a:r>
                        <a:rPr lang="ru-RU" sz="1800" b="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покупить</a:t>
                      </a: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/</a:t>
                      </a:r>
                      <a:r>
                        <a:rPr lang="ru-RU" sz="1800" b="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продовать</a:t>
                      </a: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, выводить, собирать инфу с </a:t>
                      </a:r>
                      <a:r>
                        <a:rPr lang="ru-RU" sz="1800" b="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биржы</a:t>
                      </a: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с помощью алгоритмов написанных пользователем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.</a:t>
                      </a:r>
                      <a:r>
                        <a:rPr lang="en-US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некоторых биржах уже успешно работают боты с официальным разрешением.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284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Комиссии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Существуют комиссии на ввод, вывод, торговлю. Также при маржинальной торговле (торговле с плечом) может взыматься процент, который нужно иметь ввиду.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388280"/>
                  </a:ext>
                </a:extLst>
              </a:tr>
            </a:tbl>
          </a:graphicData>
        </a:graphic>
      </p:graphicFrame>
      <p:sp>
        <p:nvSpPr>
          <p:cNvPr id="4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/>
              <a:t>Критерии оценивания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982548"/>
              </p:ext>
            </p:extLst>
          </p:nvPr>
        </p:nvGraphicFramePr>
        <p:xfrm>
          <a:off x="838200" y="4631055"/>
          <a:ext cx="1051560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152816539"/>
                    </a:ext>
                  </a:extLst>
                </a:gridCol>
                <a:gridCol w="8877300">
                  <a:extLst>
                    <a:ext uri="{9D8B030D-6E8A-4147-A177-3AD203B41FA5}">
                      <a16:colId xmlns:a16="http://schemas.microsoft.com/office/drawing/2014/main" val="24884364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Наличие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фиата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Фиат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– жаргонные слово для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фиатных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денег (бумажные деньги, которые не подкрепляют свою стоимость материалом из которого сделаны, т.е. рубли, доллары). Желательно выбирать </a:t>
                      </a:r>
                      <a:r>
                        <a:rPr lang="ru-RU" sz="1800" b="1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биржу с вводом в рублях, 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тогда можно избежать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коммисии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от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обменника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криптовалют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. Но внимательно нужно смотреть на комиссию на ввод (если она есть). Биржа может </a:t>
                      </a:r>
                      <a:r>
                        <a:rPr lang="ru-RU" sz="1800" b="1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не работать с </a:t>
                      </a:r>
                      <a:r>
                        <a:rPr lang="ru-RU" sz="1800" b="1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фиатом</a:t>
                      </a:r>
                      <a:r>
                        <a:rPr lang="ru-RU" sz="1800" b="1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en-US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(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торговля только между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криптовалютами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)</a:t>
                      </a:r>
                      <a:r>
                        <a:rPr lang="ru-RU" sz="1800" b="1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, но позволять вводить </a:t>
                      </a:r>
                      <a:r>
                        <a:rPr lang="ru-RU" sz="1800" b="1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фиатные</a:t>
                      </a:r>
                      <a:r>
                        <a:rPr lang="ru-RU" sz="1800" b="1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деньги.</a:t>
                      </a:r>
                      <a:endParaRPr lang="ru-RU" sz="1800" b="1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1221821"/>
                  </a:ext>
                </a:extLst>
              </a:tr>
            </a:tbl>
          </a:graphicData>
        </a:graphic>
      </p:graphicFrame>
      <p:sp>
        <p:nvSpPr>
          <p:cNvPr id="10" name="Заголовок 1"/>
          <p:cNvSpPr txBox="1">
            <a:spLocks/>
          </p:cNvSpPr>
          <p:nvPr/>
        </p:nvSpPr>
        <p:spPr>
          <a:xfrm>
            <a:off x="8028214" y="6417129"/>
            <a:ext cx="3325586" cy="3097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 smtClean="0"/>
              <a:t>Зеленые – наиболее важные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243518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Объект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4201897"/>
              </p:ext>
            </p:extLst>
          </p:nvPr>
        </p:nvGraphicFramePr>
        <p:xfrm>
          <a:off x="838200" y="909412"/>
          <a:ext cx="10515600" cy="1193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389795684"/>
                    </a:ext>
                  </a:extLst>
                </a:gridCol>
                <a:gridCol w="8877300">
                  <a:extLst>
                    <a:ext uri="{9D8B030D-6E8A-4147-A177-3AD203B41FA5}">
                      <a16:colId xmlns:a16="http://schemas.microsoft.com/office/drawing/2014/main" val="25047461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Поддержка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Желательно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, чтобы у </a:t>
                      </a:r>
                      <a:r>
                        <a:rPr lang="ru-RU" sz="1800" b="0" baseline="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биржы</a:t>
                      </a:r>
                      <a:r>
                        <a:rPr lang="ru-RU" sz="1800" b="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была поддержка на русском.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284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Представительство в РФ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Это может упростить и ускорить процесс решения проблем. Например, если средства пользователя пропадут, если аккаунт будет взломан или временно заблокирован и так далее.</a:t>
                      </a:r>
                      <a:endParaRPr lang="ru-RU" sz="1800" b="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388280"/>
                  </a:ext>
                </a:extLst>
              </a:tr>
            </a:tbl>
          </a:graphicData>
        </a:graphic>
      </p:graphicFrame>
      <p:sp>
        <p:nvSpPr>
          <p:cNvPr id="4" name="Заголовок 1"/>
          <p:cNvSpPr txBox="1">
            <a:spLocks/>
          </p:cNvSpPr>
          <p:nvPr/>
        </p:nvSpPr>
        <p:spPr>
          <a:xfrm>
            <a:off x="3450771" y="149680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/>
              <a:t>Критерии оценивания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054815"/>
              </p:ext>
            </p:extLst>
          </p:nvPr>
        </p:nvGraphicFramePr>
        <p:xfrm>
          <a:off x="838200" y="2103212"/>
          <a:ext cx="105156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25">
                  <a:extLst>
                    <a:ext uri="{9D8B030D-6E8A-4147-A177-3AD203B41FA5}">
                      <a16:colId xmlns:a16="http://schemas.microsoft.com/office/drawing/2014/main" val="3172144757"/>
                    </a:ext>
                  </a:extLst>
                </a:gridCol>
                <a:gridCol w="8867775">
                  <a:extLst>
                    <a:ext uri="{9D8B030D-6E8A-4147-A177-3AD203B41FA5}">
                      <a16:colId xmlns:a16="http://schemas.microsoft.com/office/drawing/2014/main" val="17479887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Вывод/Ввод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 данные операции существуют лимиты (дневные, недельные </a:t>
                      </a:r>
                      <a:r>
                        <a:rPr lang="ru-RU" sz="180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итд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). Необходимо сравнивать свой депозит с лимитами во избежание застраивания валюты на счету. Еще нужно иметь ввиду минимальную сумму на вывод. Способы вывода на </a:t>
                      </a:r>
                      <a:r>
                        <a:rPr lang="ru-RU" sz="180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сбер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или другой банк в РФ</a:t>
                      </a:r>
                      <a:r>
                        <a:rPr lang="ru-RU" sz="180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встречаются, но редко. Для Покупки/Продажи крипты можно пользоваться </a:t>
                      </a:r>
                      <a:r>
                        <a:rPr lang="ru-RU" sz="180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обменниками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,</a:t>
                      </a:r>
                      <a:r>
                        <a:rPr lang="ru-RU" sz="1800" baseline="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если биржа не работает с рублями.</a:t>
                      </a:r>
                      <a:endParaRPr lang="ru-RU" sz="1800" dirty="0"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477375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985884"/>
              </p:ext>
            </p:extLst>
          </p:nvPr>
        </p:nvGraphicFramePr>
        <p:xfrm>
          <a:off x="838200" y="3474812"/>
          <a:ext cx="105156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25">
                  <a:extLst>
                    <a:ext uri="{9D8B030D-6E8A-4147-A177-3AD203B41FA5}">
                      <a16:colId xmlns:a16="http://schemas.microsoft.com/office/drawing/2014/main" val="500880203"/>
                    </a:ext>
                  </a:extLst>
                </a:gridCol>
                <a:gridCol w="8867775">
                  <a:extLst>
                    <a:ext uri="{9D8B030D-6E8A-4147-A177-3AD203B41FA5}">
                      <a16:colId xmlns:a16="http://schemas.microsoft.com/office/drawing/2014/main" val="659092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Верификация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Стоит обратить внимание на то обязательна ли она, так как при выводе средств может оказаться что нужно подтвердить личность и процесс затянется.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761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Наличие плеча 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Плечо – размер возможного займа для покупки крипты, акций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итд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. Плечо «3х» подразумевает что с суммой в 100 рублей можно купить на 300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руб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(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займ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в 200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руб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). Стоит обращать внимание на проценты по такому займу.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84336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353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/>
              <a:t>Критерии оценивания</a:t>
            </a:r>
          </a:p>
        </p:txBody>
      </p:sp>
      <p:graphicFrame>
        <p:nvGraphicFramePr>
          <p:cNvPr id="8" name="Объект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2756619"/>
              </p:ext>
            </p:extLst>
          </p:nvPr>
        </p:nvGraphicFramePr>
        <p:xfrm>
          <a:off x="838200" y="968375"/>
          <a:ext cx="1051560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7350">
                  <a:extLst>
                    <a:ext uri="{9D8B030D-6E8A-4147-A177-3AD203B41FA5}">
                      <a16:colId xmlns:a16="http://schemas.microsoft.com/office/drawing/2014/main" val="1364426605"/>
                    </a:ext>
                  </a:extLst>
                </a:gridCol>
                <a:gridCol w="8858250">
                  <a:extLst>
                    <a:ext uri="{9D8B030D-6E8A-4147-A177-3AD203B41FA5}">
                      <a16:colId xmlns:a16="http://schemas.microsoft.com/office/drawing/2014/main" val="34601495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Возможность «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шортить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»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Шортить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– игра на понижение. При такой сделке биржа дает пользователю в долг актив который он собрался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шортить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. Например Миша решил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зашортить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1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, цена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биткоина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1млн руб. Биржа дает Мише 1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в долг. Михаил после получения 1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биткоина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продает его и получает 1 млн рублей на счет. Далее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упал в цене до 0.5 млн и Миша закрыл сделку. Закрывая 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сделку, 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Михаил должен купить биток и моментально вернуть 1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бирже, а разницу в цене оставил себе (0.5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ляма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). Стоит понимать что на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займ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1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биткоина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облагается процентами как и любой другой кредит, то есть чем дольше </a:t>
                      </a:r>
                      <a:r>
                        <a:rPr lang="ru-RU" sz="1800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шортишь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 тем больше денег набежит в процентах по кредиту.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1142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  <a:latin typeface="+mj-lt"/>
                          <a:ea typeface="Calibri" panose="020F0502020204030204" pitchFamily="34" charset="0"/>
                        </a:rPr>
                        <a:t>Защита аккаунта 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Обычно с помощью одной лишь взломанной почты мошенник может завладеть аккаунтом. Для того чтобы этого не произошло нужно смотреть есть ли </a:t>
                      </a:r>
                      <a:r>
                        <a:rPr lang="ru-RU" sz="1800" b="1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привязка аккаунта по </a:t>
                      </a:r>
                      <a:r>
                        <a:rPr lang="en-US" sz="1800" b="1" dirty="0" err="1">
                          <a:effectLst/>
                          <a:latin typeface="+mj-lt"/>
                          <a:ea typeface="Calibri" panose="020F0502020204030204" pitchFamily="34" charset="0"/>
                        </a:rPr>
                        <a:t>ip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. 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Также 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на бирже обязательно </a:t>
                      </a:r>
                      <a:r>
                        <a:rPr lang="ru-RU" sz="1800" dirty="0" err="1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должена</a:t>
                      </a:r>
                      <a:r>
                        <a:rPr lang="ru-RU" sz="1800" dirty="0" smtClean="0">
                          <a:effectLst/>
                          <a:latin typeface="+mj-lt"/>
                          <a:ea typeface="Calibri" panose="020F0502020204030204" pitchFamily="34" charset="0"/>
                        </a:rPr>
                        <a:t> быть привязка </a:t>
                      </a:r>
                      <a:r>
                        <a:rPr lang="en-US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Google Authenticator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. </a:t>
                      </a:r>
                      <a:r>
                        <a:rPr lang="en-US" sz="1800" b="1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Google Authenticator </a:t>
                      </a:r>
                      <a:r>
                        <a:rPr lang="ru-RU" sz="1800" dirty="0">
                          <a:effectLst/>
                          <a:latin typeface="+mj-lt"/>
                          <a:ea typeface="Calibri" panose="020F0502020204030204" pitchFamily="34" charset="0"/>
                        </a:rPr>
                        <a:t>– приложение на телефон которое генерирует ключи для входа.</a:t>
                      </a:r>
                    </a:p>
                  </a:txBody>
                  <a:tcPr marL="68580" marR="6858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795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107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909412"/>
            <a:ext cx="10515600" cy="128768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>
                <a:latin typeface="+mj-lt"/>
              </a:rPr>
              <a:t>Явным лидером выступает биржа </a:t>
            </a:r>
            <a:r>
              <a:rPr lang="en-US" dirty="0" smtClean="0">
                <a:latin typeface="+mj-lt"/>
              </a:rPr>
              <a:t>Binance. </a:t>
            </a:r>
            <a:r>
              <a:rPr lang="ru-RU" dirty="0" smtClean="0">
                <a:latin typeface="+mj-lt"/>
              </a:rPr>
              <a:t>По всем критериям подходит для использования, является лидером по обороту средств за сутки.</a:t>
            </a:r>
            <a:endParaRPr lang="en-US" dirty="0" smtClean="0">
              <a:latin typeface="+mj-lt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 smtClean="0"/>
              <a:t>About Binance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2"/>
          <a:srcRect l="27153" t="21358" r="28125"/>
          <a:stretch/>
        </p:blipFill>
        <p:spPr>
          <a:xfrm>
            <a:off x="6908800" y="1915216"/>
            <a:ext cx="4445000" cy="4396684"/>
          </a:xfrm>
          <a:prstGeom prst="rect">
            <a:avLst/>
          </a:prstGeom>
        </p:spPr>
      </p:pic>
      <p:sp>
        <p:nvSpPr>
          <p:cNvPr id="11" name="Объект 2"/>
          <p:cNvSpPr txBox="1">
            <a:spLocks/>
          </p:cNvSpPr>
          <p:nvPr/>
        </p:nvSpPr>
        <p:spPr>
          <a:xfrm>
            <a:off x="838200" y="2197100"/>
            <a:ext cx="48133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 smtClean="0">
                <a:latin typeface="+mj-lt"/>
              </a:rPr>
              <a:t>Помимо биржи, </a:t>
            </a:r>
            <a:r>
              <a:rPr lang="en-US" dirty="0" smtClean="0">
                <a:latin typeface="+mj-lt"/>
              </a:rPr>
              <a:t>Binance </a:t>
            </a:r>
            <a:r>
              <a:rPr lang="ru-RU" dirty="0" smtClean="0">
                <a:latin typeface="+mj-lt"/>
              </a:rPr>
              <a:t>предлагает различные продукты/платформы. Одной из наиболее интересных является агрегатор крипто-информации </a:t>
            </a:r>
            <a:r>
              <a:rPr lang="en-US" dirty="0" smtClean="0">
                <a:latin typeface="+mj-lt"/>
              </a:rPr>
              <a:t>Binance info (</a:t>
            </a:r>
            <a:r>
              <a:rPr lang="en-US" dirty="0" err="1" smtClean="0">
                <a:latin typeface="+mj-lt"/>
              </a:rPr>
              <a:t>CoinMarketCap</a:t>
            </a:r>
            <a:r>
              <a:rPr lang="en-US" dirty="0">
                <a:latin typeface="+mj-lt"/>
              </a:rPr>
              <a:t>) </a:t>
            </a:r>
            <a:r>
              <a:rPr lang="en-US" dirty="0">
                <a:latin typeface="+mj-lt"/>
                <a:hlinkClick r:id="rId3"/>
              </a:rPr>
              <a:t>https://coinmarketcap.com/ru</a:t>
            </a:r>
            <a:r>
              <a:rPr lang="en-US" dirty="0" smtClean="0">
                <a:latin typeface="+mj-lt"/>
                <a:hlinkClick r:id="rId3"/>
              </a:rPr>
              <a:t>/</a:t>
            </a:r>
            <a:endParaRPr lang="en-US" dirty="0" smtClean="0">
              <a:latin typeface="+mj-lt"/>
            </a:endParaRPr>
          </a:p>
          <a:p>
            <a:pPr marL="0" indent="0">
              <a:buNone/>
            </a:pPr>
            <a:endParaRPr lang="en-US" dirty="0" smtClean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27714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909412"/>
            <a:ext cx="10515600" cy="128768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>
                <a:latin typeface="+mj-lt"/>
              </a:rPr>
              <a:t>При регистрации желательно сразу инициировать проверку идентификации личности, для увеличения лимита ввода и вывода рублей.</a:t>
            </a:r>
            <a:endParaRPr lang="en-US" dirty="0" smtClean="0">
              <a:latin typeface="+mj-lt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Верификация </a:t>
            </a:r>
            <a:r>
              <a:rPr lang="en-US" dirty="0" smtClean="0"/>
              <a:t>Binance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l="3545" t="9612" r="6941" b="46104"/>
          <a:stretch/>
        </p:blipFill>
        <p:spPr>
          <a:xfrm>
            <a:off x="927100" y="2197100"/>
            <a:ext cx="10007600" cy="278481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l="20307" t="68223" r="64466" b="24887"/>
          <a:stretch/>
        </p:blipFill>
        <p:spPr>
          <a:xfrm>
            <a:off x="2742734" y="4958896"/>
            <a:ext cx="2306972" cy="587230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2"/>
          <a:srcRect l="40683" t="68223" r="42529" b="24887"/>
          <a:stretch/>
        </p:blipFill>
        <p:spPr>
          <a:xfrm>
            <a:off x="5106857" y="4958896"/>
            <a:ext cx="2543438" cy="587230"/>
          </a:xfrm>
          <a:prstGeom prst="rect">
            <a:avLst/>
          </a:prstGeom>
          <a:ln>
            <a:solidFill>
              <a:srgbClr val="00B050"/>
            </a:solidFill>
          </a:ln>
        </p:spPr>
      </p:pic>
      <p:sp>
        <p:nvSpPr>
          <p:cNvPr id="13" name="Объект 3"/>
          <p:cNvSpPr txBox="1">
            <a:spLocks/>
          </p:cNvSpPr>
          <p:nvPr/>
        </p:nvSpPr>
        <p:spPr>
          <a:xfrm>
            <a:off x="838200" y="5763189"/>
            <a:ext cx="10515600" cy="1701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 smtClean="0"/>
              <a:t>Без подтверждения личности лимит </a:t>
            </a:r>
            <a:r>
              <a:rPr lang="ru-RU" dirty="0" err="1" smtClean="0"/>
              <a:t>фиата</a:t>
            </a:r>
            <a:r>
              <a:rPr lang="ru-RU" dirty="0" smtClean="0"/>
              <a:t> (рублей) </a:t>
            </a:r>
            <a:r>
              <a:rPr lang="en-US" dirty="0" smtClean="0"/>
              <a:t>$</a:t>
            </a:r>
            <a:r>
              <a:rPr lang="ru-RU" dirty="0" smtClean="0"/>
              <a:t>300 – </a:t>
            </a:r>
            <a:r>
              <a:rPr lang="ru-RU" u="sng" dirty="0" smtClean="0"/>
              <a:t>обязательно нужно подтвердить личность</a:t>
            </a:r>
            <a:r>
              <a:rPr lang="en-US" u="sng" dirty="0" smtClean="0"/>
              <a:t> </a:t>
            </a:r>
            <a:endParaRPr lang="ru-RU" u="sng" dirty="0"/>
          </a:p>
        </p:txBody>
      </p:sp>
    </p:spTree>
    <p:extLst>
      <p:ext uri="{BB962C8B-B14F-4D97-AF65-F5344CB8AC3E}">
        <p14:creationId xmlns:p14="http://schemas.microsoft.com/office/powerpoint/2010/main" val="450997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8" descr="Как пройти проверку персональных данных | Binanc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97" y="909412"/>
            <a:ext cx="363880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Объект 2"/>
          <p:cNvSpPr txBox="1">
            <a:spLocks/>
          </p:cNvSpPr>
          <p:nvPr/>
        </p:nvSpPr>
        <p:spPr>
          <a:xfrm>
            <a:off x="4211709" y="987199"/>
            <a:ext cx="371462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400" dirty="0" smtClean="0">
                <a:latin typeface="+mj-lt"/>
              </a:rPr>
              <a:t>Выбираем верификацию по паспорту (рис. слева). Когда понадобится отсканировать </a:t>
            </a:r>
            <a:r>
              <a:rPr lang="en-US" sz="2400" dirty="0" smtClean="0">
                <a:latin typeface="+mj-lt"/>
              </a:rPr>
              <a:t>QR </a:t>
            </a:r>
            <a:r>
              <a:rPr lang="ru-RU" sz="2400" dirty="0" smtClean="0">
                <a:latin typeface="+mj-lt"/>
              </a:rPr>
              <a:t>код, в приложении </a:t>
            </a:r>
            <a:r>
              <a:rPr lang="ru-RU" sz="2400" u="sng" dirty="0" smtClean="0">
                <a:latin typeface="+mj-lt"/>
              </a:rPr>
              <a:t>на телефоне </a:t>
            </a:r>
            <a:r>
              <a:rPr lang="ru-RU" sz="2400" dirty="0" smtClean="0">
                <a:latin typeface="+mj-lt"/>
              </a:rPr>
              <a:t>нажимаем кнопку с картинки справа и до-проходим верификацию.</a:t>
            </a:r>
            <a:endParaRPr lang="ru-RU" sz="2400" dirty="0">
              <a:latin typeface="+mj-lt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91"/>
          <a:stretch/>
        </p:blipFill>
        <p:spPr>
          <a:xfrm>
            <a:off x="8185037" y="987199"/>
            <a:ext cx="3168763" cy="4149725"/>
          </a:xfrm>
          <a:prstGeom prst="rect">
            <a:avLst/>
          </a:prstGeom>
        </p:spPr>
      </p:pic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Верификация </a:t>
            </a:r>
            <a:r>
              <a:rPr lang="en-US" dirty="0" smtClean="0"/>
              <a:t>Binance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0516001" y="1392572"/>
            <a:ext cx="356130" cy="267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трелка вниз 6"/>
          <p:cNvSpPr/>
          <p:nvPr/>
        </p:nvSpPr>
        <p:spPr>
          <a:xfrm rot="10800000">
            <a:off x="10576660" y="1659711"/>
            <a:ext cx="234811" cy="849231"/>
          </a:xfrm>
          <a:prstGeom prst="downArrow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4424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Ввод </a:t>
            </a:r>
            <a:r>
              <a:rPr lang="en-US" dirty="0" smtClean="0"/>
              <a:t>Binance</a:t>
            </a:r>
            <a:endParaRPr lang="ru-RU" dirty="0"/>
          </a:p>
        </p:txBody>
      </p:sp>
      <p:sp>
        <p:nvSpPr>
          <p:cNvPr id="13" name="Объект 2"/>
          <p:cNvSpPr txBox="1">
            <a:spLocks/>
          </p:cNvSpPr>
          <p:nvPr/>
        </p:nvSpPr>
        <p:spPr>
          <a:xfrm>
            <a:off x="463215" y="1180306"/>
            <a:ext cx="1119538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 smtClean="0">
                <a:latin typeface="+mj-lt"/>
              </a:rPr>
              <a:t>Ввод рублей </a:t>
            </a:r>
            <a:r>
              <a:rPr lang="ru-RU" sz="2400" dirty="0" smtClean="0">
                <a:latin typeface="+mj-lt"/>
              </a:rPr>
              <a:t>на </a:t>
            </a:r>
            <a:r>
              <a:rPr lang="en-US" sz="2400" dirty="0" smtClean="0">
                <a:latin typeface="+mj-lt"/>
              </a:rPr>
              <a:t>Binance</a:t>
            </a:r>
            <a:r>
              <a:rPr lang="ru-RU" sz="2400" dirty="0">
                <a:latin typeface="+mj-lt"/>
              </a:rPr>
              <a:t> </a:t>
            </a:r>
            <a:r>
              <a:rPr lang="ru-RU" sz="2400" dirty="0" smtClean="0">
                <a:latin typeface="+mj-lt"/>
              </a:rPr>
              <a:t>с карты</a:t>
            </a:r>
            <a:r>
              <a:rPr lang="en-US" sz="2400" dirty="0">
                <a:latin typeface="+mj-lt"/>
              </a:rPr>
              <a:t> </a:t>
            </a:r>
            <a:r>
              <a:rPr lang="ru-RU" sz="2400" dirty="0" smtClean="0">
                <a:latin typeface="+mj-lt"/>
              </a:rPr>
              <a:t>на данный момент (04.21) БЕЗ комиссии</a:t>
            </a:r>
            <a:r>
              <a:rPr lang="en-US" sz="2400" dirty="0" smtClean="0">
                <a:latin typeface="+mj-lt"/>
              </a:rPr>
              <a:t>. </a:t>
            </a:r>
            <a:r>
              <a:rPr lang="ru-RU" sz="2400" dirty="0" smtClean="0">
                <a:latin typeface="+mj-lt"/>
              </a:rPr>
              <a:t>Размер комиссии меняется, актуальная информация </a:t>
            </a:r>
            <a:r>
              <a:rPr lang="en-US" sz="2400" dirty="0">
                <a:latin typeface="+mj-lt"/>
                <a:hlinkClick r:id="rId2"/>
              </a:rPr>
              <a:t>https://</a:t>
            </a:r>
            <a:r>
              <a:rPr lang="en-US" sz="2400" dirty="0" smtClean="0">
                <a:latin typeface="+mj-lt"/>
                <a:hlinkClick r:id="rId2"/>
              </a:rPr>
              <a:t>www.binance.com/en/fee/fiatFee</a:t>
            </a:r>
            <a:r>
              <a:rPr lang="ru-RU" sz="2400" dirty="0" smtClean="0">
                <a:latin typeface="+mj-lt"/>
              </a:rPr>
              <a:t>. </a:t>
            </a:r>
            <a:endParaRPr lang="ru-RU" sz="2400" dirty="0" smtClean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1250" t="42469" r="16528" b="29753"/>
          <a:stretch/>
        </p:blipFill>
        <p:spPr>
          <a:xfrm>
            <a:off x="463215" y="2311677"/>
            <a:ext cx="10188503" cy="2204244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10000" t="52222" r="14791" b="41852"/>
          <a:stretch/>
        </p:blipFill>
        <p:spPr>
          <a:xfrm>
            <a:off x="463215" y="1851660"/>
            <a:ext cx="10379125" cy="46001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5"/>
          <a:srcRect l="23669" t="35619" r="50303" b="34859"/>
          <a:stretch/>
        </p:blipFill>
        <p:spPr>
          <a:xfrm>
            <a:off x="4081003" y="4589643"/>
            <a:ext cx="2952925" cy="1884001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081003" y="6141364"/>
            <a:ext cx="1352149" cy="267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065154" y="1259639"/>
            <a:ext cx="1812271" cy="267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366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</a:t>
            </a:r>
            <a:r>
              <a:rPr lang="ru-RU" dirty="0"/>
              <a:t>ы</a:t>
            </a:r>
            <a:r>
              <a:rPr lang="ru-RU" dirty="0" smtClean="0"/>
              <a:t>вод </a:t>
            </a:r>
            <a:r>
              <a:rPr lang="en-US" dirty="0" smtClean="0"/>
              <a:t>Binance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3215" y="1180306"/>
            <a:ext cx="115478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Вывод рублей </a:t>
            </a:r>
            <a:r>
              <a:rPr lang="ru-RU" sz="2400" b="1" dirty="0" smtClean="0">
                <a:latin typeface="+mj-lt"/>
              </a:rPr>
              <a:t>на карту </a:t>
            </a:r>
            <a:r>
              <a:rPr lang="ru-RU" sz="2400" dirty="0" smtClean="0">
                <a:latin typeface="+mj-lt"/>
              </a:rPr>
              <a:t>с </a:t>
            </a:r>
            <a:r>
              <a:rPr lang="en-US" sz="2400" dirty="0" smtClean="0">
                <a:latin typeface="+mj-lt"/>
              </a:rPr>
              <a:t>Binance, </a:t>
            </a:r>
            <a:r>
              <a:rPr lang="ru-RU" sz="2400" dirty="0" smtClean="0">
                <a:latin typeface="+mj-lt"/>
              </a:rPr>
              <a:t>комиссия фиксированная 250р</a:t>
            </a:r>
            <a:endParaRPr lang="en-US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2"/>
          <a:srcRect l="15417" t="21667" r="3542" b="10370"/>
          <a:stretch/>
        </p:blipFill>
        <p:spPr>
          <a:xfrm>
            <a:off x="1303020" y="1946183"/>
            <a:ext cx="8238320" cy="38862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1389145" y="3222405"/>
            <a:ext cx="1963655" cy="3666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5831605" y="3222405"/>
            <a:ext cx="1352149" cy="2294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041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Ввод/Вывод </a:t>
            </a:r>
            <a:r>
              <a:rPr lang="en-US" dirty="0" smtClean="0"/>
              <a:t>p2p Binance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3215" y="1180306"/>
            <a:ext cx="115478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При помощи </a:t>
            </a:r>
            <a:r>
              <a:rPr lang="en-US" sz="2400" dirty="0" smtClean="0">
                <a:latin typeface="+mj-lt"/>
              </a:rPr>
              <a:t>p2p </a:t>
            </a:r>
            <a:r>
              <a:rPr lang="ru-RU" sz="2400" dirty="0" smtClean="0">
                <a:latin typeface="+mj-lt"/>
              </a:rPr>
              <a:t>бирж</a:t>
            </a:r>
            <a:r>
              <a:rPr lang="ru-RU" sz="2400" dirty="0">
                <a:latin typeface="+mj-lt"/>
              </a:rPr>
              <a:t>и</a:t>
            </a:r>
            <a:r>
              <a:rPr lang="ru-RU" sz="2400" dirty="0" smtClean="0">
                <a:latin typeface="+mj-lt"/>
              </a:rPr>
              <a:t> от </a:t>
            </a:r>
            <a:r>
              <a:rPr lang="en-US" sz="2400" dirty="0" smtClean="0">
                <a:latin typeface="+mj-lt"/>
              </a:rPr>
              <a:t>Binance,</a:t>
            </a:r>
            <a:r>
              <a:rPr lang="ru-RU" sz="2400" dirty="0" smtClean="0">
                <a:latin typeface="+mj-lt"/>
              </a:rPr>
              <a:t> можно обменять крипту на деньги (любые банки), с </a:t>
            </a:r>
            <a:r>
              <a:rPr lang="ru-RU" sz="2400" dirty="0" err="1" smtClean="0">
                <a:latin typeface="+mj-lt"/>
              </a:rPr>
              <a:t>рандомным</a:t>
            </a:r>
            <a:r>
              <a:rPr lang="ru-RU" sz="2400" dirty="0" smtClean="0">
                <a:latin typeface="+mj-lt"/>
              </a:rPr>
              <a:t> человеком. Если после перевода денег крипта не пришла, то по реквизитам платежа биржа сама переведет крипту. Преимущество такой </a:t>
            </a:r>
            <a:r>
              <a:rPr lang="ru-RU" sz="2400" dirty="0" err="1" smtClean="0">
                <a:latin typeface="+mj-lt"/>
              </a:rPr>
              <a:t>биржы</a:t>
            </a:r>
            <a:r>
              <a:rPr lang="ru-RU" sz="2400" dirty="0" smtClean="0">
                <a:latin typeface="+mj-lt"/>
              </a:rPr>
              <a:t> в отсутствии комиссий от </a:t>
            </a:r>
            <a:r>
              <a:rPr lang="en-US" sz="2400" dirty="0" smtClean="0">
                <a:latin typeface="+mj-lt"/>
              </a:rPr>
              <a:t>Binance.</a:t>
            </a:r>
            <a:r>
              <a:rPr lang="ru-RU" sz="2400" dirty="0" smtClean="0">
                <a:latin typeface="+mj-lt"/>
              </a:rPr>
              <a:t> </a:t>
            </a: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2"/>
          <a:srcRect l="18958" t="29815" r="19896" b="2038"/>
          <a:stretch/>
        </p:blipFill>
        <p:spPr>
          <a:xfrm>
            <a:off x="463215" y="2895600"/>
            <a:ext cx="5743109" cy="360045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19375" t="30371" r="20730" b="2239"/>
          <a:stretch/>
        </p:blipFill>
        <p:spPr>
          <a:xfrm>
            <a:off x="6267916" y="2895600"/>
            <a:ext cx="5743109" cy="363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125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smtClean="0"/>
              <a:t>Ввод/Вывод </a:t>
            </a:r>
            <a:r>
              <a:rPr lang="en-US" dirty="0" smtClean="0"/>
              <a:t>p2p Binance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3215" y="1180306"/>
            <a:ext cx="115478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Предупреждение от </a:t>
            </a:r>
            <a:r>
              <a:rPr lang="en-US" sz="2400" dirty="0" smtClean="0">
                <a:latin typeface="+mj-lt"/>
              </a:rPr>
              <a:t>p2p Binance:</a:t>
            </a:r>
          </a:p>
          <a:p>
            <a:pPr marL="0" indent="0">
              <a:buNone/>
            </a:pPr>
            <a:r>
              <a:rPr lang="ru-RU" sz="2400" dirty="0" smtClean="0">
                <a:latin typeface="+mj-lt"/>
              </a:rPr>
              <a:t>Чтобы </a:t>
            </a:r>
            <a:r>
              <a:rPr lang="ru-RU" sz="2400" dirty="0">
                <a:latin typeface="+mj-lt"/>
              </a:rPr>
              <a:t>не стать жертвой мошенников, НИКОГДА не переводите </a:t>
            </a:r>
            <a:r>
              <a:rPr lang="ru-RU" sz="2400" dirty="0" err="1">
                <a:latin typeface="+mj-lt"/>
              </a:rPr>
              <a:t>криптовалюту</a:t>
            </a:r>
            <a:r>
              <a:rPr lang="ru-RU" sz="2400" dirty="0">
                <a:latin typeface="+mj-lt"/>
              </a:rPr>
              <a:t> до фактического получения платежа! Не верьте никому, кто утверждает, что является службой поддержки клиентов и убеждает вас завершить транзакцию до того, как вы получите платеж - они мошенники. Как только продавец подтверждает заказ и передает активы покупателю, транзакция считается завершенной и не может быть оспорена. Binance не несет ответственности за транзакции, совершенные за пределами платформы</a:t>
            </a: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3014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1940377" y="152855"/>
            <a:ext cx="9032423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dirty="0" smtClean="0"/>
              <a:t>Binance</a:t>
            </a:r>
            <a:r>
              <a:rPr lang="ru-RU" sz="2800" dirty="0" smtClean="0"/>
              <a:t> торговля с </a:t>
            </a:r>
            <a:r>
              <a:rPr lang="ru-RU" sz="2800" dirty="0" smtClean="0"/>
              <a:t>плечом и </a:t>
            </a:r>
            <a:r>
              <a:rPr lang="ru-RU" sz="2800" dirty="0" err="1" smtClean="0"/>
              <a:t>гайд</a:t>
            </a:r>
            <a:r>
              <a:rPr lang="ru-RU" sz="2800" dirty="0" smtClean="0"/>
              <a:t> по торговому терминалу</a:t>
            </a:r>
            <a:endParaRPr lang="ru-RU" sz="2800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463216" y="1182776"/>
            <a:ext cx="4289074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Ссылки к более подробному ознакомлению по торговле с плечом:</a:t>
            </a:r>
          </a:p>
          <a:p>
            <a:pPr marL="0" indent="0">
              <a:buNone/>
            </a:pPr>
            <a:r>
              <a:rPr lang="ru-RU" sz="2400" dirty="0"/>
              <a:t>Проценты по </a:t>
            </a:r>
            <a:r>
              <a:rPr lang="ru-RU" sz="2400" dirty="0" smtClean="0"/>
              <a:t>маржинальной (с плечом) </a:t>
            </a:r>
            <a:r>
              <a:rPr lang="ru-RU" sz="2400" dirty="0"/>
              <a:t>торговле </a:t>
            </a:r>
            <a:endParaRPr lang="ru-RU" sz="2400" dirty="0" smtClean="0">
              <a:hlinkClick r:id="rId2"/>
            </a:endParaRPr>
          </a:p>
          <a:p>
            <a:pPr marL="0" indent="0">
              <a:buNone/>
            </a:pPr>
            <a:r>
              <a:rPr lang="en-US" sz="2400" dirty="0" smtClean="0">
                <a:hlinkClick r:id="rId2"/>
              </a:rPr>
              <a:t>https</a:t>
            </a:r>
            <a:r>
              <a:rPr lang="en-US" sz="2400" dirty="0">
                <a:hlinkClick r:id="rId2"/>
              </a:rPr>
              <a:t>://www.binance.com/ru/margin-fee</a:t>
            </a:r>
            <a:r>
              <a:rPr lang="en-US" sz="2400" dirty="0"/>
              <a:t> </a:t>
            </a:r>
            <a:endParaRPr lang="ru-RU" sz="2400" dirty="0" smtClean="0"/>
          </a:p>
          <a:p>
            <a:pPr marL="0" indent="0">
              <a:buNone/>
            </a:pPr>
            <a:r>
              <a:rPr lang="ru-RU" sz="2400" dirty="0" smtClean="0"/>
              <a:t>Условия </a:t>
            </a:r>
            <a:r>
              <a:rPr lang="ru-RU" sz="2400" dirty="0"/>
              <a:t>маржинальной торговли </a:t>
            </a:r>
            <a:r>
              <a:rPr lang="en-US" sz="2400" dirty="0">
                <a:hlinkClick r:id="rId3"/>
              </a:rPr>
              <a:t>https://www.binance.com/ru/support/faq/360041505471</a:t>
            </a:r>
            <a:endParaRPr lang="en-US" sz="2400" dirty="0"/>
          </a:p>
          <a:p>
            <a:pPr marL="0" indent="0">
              <a:buNone/>
            </a:pPr>
            <a:r>
              <a:rPr lang="ru-RU" sz="2400" dirty="0"/>
              <a:t>Условия </a:t>
            </a:r>
            <a:r>
              <a:rPr lang="ru-RU" sz="2400" dirty="0" smtClean="0"/>
              <a:t>ликвидации счета</a:t>
            </a:r>
            <a:endParaRPr lang="ru-RU" sz="2400" dirty="0"/>
          </a:p>
          <a:p>
            <a:pPr marL="0" indent="0">
              <a:buNone/>
            </a:pPr>
            <a:r>
              <a:rPr lang="en-US" sz="2400" dirty="0">
                <a:hlinkClick r:id="rId4"/>
              </a:rPr>
              <a:t>https://www.binance.com/en/support/faq/360033525271</a:t>
            </a: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  <p:sp>
        <p:nvSpPr>
          <p:cNvPr id="5" name="Объект 2"/>
          <p:cNvSpPr txBox="1">
            <a:spLocks/>
          </p:cNvSpPr>
          <p:nvPr/>
        </p:nvSpPr>
        <p:spPr>
          <a:xfrm>
            <a:off x="5786588" y="1180306"/>
            <a:ext cx="428907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По ссылке находится видео </a:t>
            </a:r>
            <a:r>
              <a:rPr lang="ru-RU" sz="2400" dirty="0" err="1" smtClean="0">
                <a:latin typeface="+mj-lt"/>
              </a:rPr>
              <a:t>гайд</a:t>
            </a:r>
            <a:r>
              <a:rPr lang="ru-RU" sz="2400" dirty="0" smtClean="0">
                <a:latin typeface="+mj-lt"/>
              </a:rPr>
              <a:t> по торговому терминалу </a:t>
            </a:r>
            <a:r>
              <a:rPr lang="en-US" sz="2400" dirty="0" smtClean="0">
                <a:latin typeface="+mj-lt"/>
              </a:rPr>
              <a:t>Binance.</a:t>
            </a:r>
            <a:r>
              <a:rPr lang="ru-RU" sz="2400" dirty="0" smtClean="0">
                <a:latin typeface="+mj-lt"/>
              </a:rPr>
              <a:t> В нем рассматриваются в том числе и алгоритм торговли с плечом.</a:t>
            </a:r>
            <a:r>
              <a:rPr lang="en-US" sz="2400" dirty="0" smtClean="0">
                <a:latin typeface="+mj-lt"/>
              </a:rPr>
              <a:t> </a:t>
            </a:r>
            <a:r>
              <a:rPr lang="ru-RU" sz="2400" dirty="0" smtClean="0">
                <a:latin typeface="+mj-lt"/>
              </a:rPr>
              <a:t>В данном видео под «Долларом» имеется ввиду </a:t>
            </a:r>
            <a:r>
              <a:rPr lang="ru-RU" sz="2400" dirty="0" err="1" smtClean="0">
                <a:latin typeface="+mj-lt"/>
              </a:rPr>
              <a:t>стэйбл-коин</a:t>
            </a:r>
            <a:r>
              <a:rPr lang="ru-RU" sz="2400" dirty="0" smtClean="0">
                <a:latin typeface="+mj-lt"/>
              </a:rPr>
              <a:t> привязанный к  курсу доллара.</a:t>
            </a:r>
          </a:p>
          <a:p>
            <a:pPr marL="0" indent="0">
              <a:buNone/>
            </a:pPr>
            <a:r>
              <a:rPr lang="en-US" sz="2400" dirty="0">
                <a:hlinkClick r:id="rId5"/>
              </a:rPr>
              <a:t>https://</a:t>
            </a:r>
            <a:r>
              <a:rPr lang="en-US" sz="2400" dirty="0" smtClean="0">
                <a:hlinkClick r:id="rId5"/>
              </a:rPr>
              <a:t>drive.google.com/file/d/1jmw5esnpEH58aimDPDxgIE5qI0K6CpMd/view?usp=sharing</a:t>
            </a:r>
            <a:endParaRPr lang="ru-RU" sz="2400" dirty="0" smtClean="0"/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9580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/>
          <p:cNvSpPr txBox="1">
            <a:spLocks/>
          </p:cNvSpPr>
          <p:nvPr/>
        </p:nvSpPr>
        <p:spPr>
          <a:xfrm>
            <a:off x="3450771" y="152855"/>
            <a:ext cx="5290458" cy="581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 err="1" smtClean="0"/>
              <a:t>Обменники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3216" y="1180306"/>
            <a:ext cx="11728785" cy="14514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Ввод крипты </a:t>
            </a:r>
            <a:r>
              <a:rPr lang="ru-RU" sz="2400" b="1" dirty="0" smtClean="0">
                <a:latin typeface="+mj-lt"/>
              </a:rPr>
              <a:t>на </a:t>
            </a:r>
            <a:r>
              <a:rPr lang="en-US" sz="2400" b="1" dirty="0" smtClean="0">
                <a:latin typeface="+mj-lt"/>
              </a:rPr>
              <a:t>Binance</a:t>
            </a:r>
            <a:r>
              <a:rPr lang="ru-RU" sz="2400" b="1" dirty="0">
                <a:latin typeface="+mj-lt"/>
              </a:rPr>
              <a:t> </a:t>
            </a:r>
            <a:r>
              <a:rPr lang="ru-RU" sz="2400" dirty="0" smtClean="0">
                <a:latin typeface="+mj-lt"/>
              </a:rPr>
              <a:t>с кошелька</a:t>
            </a:r>
            <a:r>
              <a:rPr lang="en-US" sz="2400" dirty="0" smtClean="0">
                <a:latin typeface="+mj-lt"/>
              </a:rPr>
              <a:t>:</a:t>
            </a:r>
          </a:p>
          <a:p>
            <a:pPr marL="0" indent="0">
              <a:buNone/>
            </a:pPr>
            <a:r>
              <a:rPr lang="ru-RU" sz="2400" dirty="0" smtClean="0">
                <a:latin typeface="+mj-lt"/>
              </a:rPr>
              <a:t>Есть возможность купить крипту в </a:t>
            </a:r>
            <a:r>
              <a:rPr lang="ru-RU" sz="2400" dirty="0" err="1" smtClean="0">
                <a:latin typeface="+mj-lt"/>
              </a:rPr>
              <a:t>обменнике</a:t>
            </a:r>
            <a:r>
              <a:rPr lang="ru-RU" sz="2400" dirty="0" smtClean="0">
                <a:latin typeface="+mj-lt"/>
              </a:rPr>
              <a:t> и перевести с него а </a:t>
            </a:r>
            <a:r>
              <a:rPr lang="ru-RU" sz="2400" dirty="0" err="1" smtClean="0">
                <a:latin typeface="+mj-lt"/>
              </a:rPr>
              <a:t>бинанс</a:t>
            </a:r>
            <a:r>
              <a:rPr lang="ru-RU" sz="2400" dirty="0" smtClean="0">
                <a:latin typeface="+mj-lt"/>
              </a:rPr>
              <a:t>, однако такой вариант точно выйдет дороже (комиссия обычно 4%).</a:t>
            </a: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22857" t="11446" r="23333" b="7706"/>
          <a:stretch/>
        </p:blipFill>
        <p:spPr>
          <a:xfrm>
            <a:off x="570774" y="2631709"/>
            <a:ext cx="4528457" cy="3827148"/>
          </a:xfrm>
          <a:prstGeom prst="rect">
            <a:avLst/>
          </a:prstGeom>
        </p:spPr>
      </p:pic>
      <p:sp>
        <p:nvSpPr>
          <p:cNvPr id="8" name="Объект 2"/>
          <p:cNvSpPr txBox="1">
            <a:spLocks/>
          </p:cNvSpPr>
          <p:nvPr/>
        </p:nvSpPr>
        <p:spPr>
          <a:xfrm>
            <a:off x="5307950" y="2852715"/>
            <a:ext cx="6675332" cy="38488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 smtClean="0">
                <a:latin typeface="+mj-lt"/>
              </a:rPr>
              <a:t>Ссылка на список </a:t>
            </a:r>
            <a:r>
              <a:rPr lang="ru-RU" sz="2400" dirty="0" err="1" smtClean="0">
                <a:latin typeface="+mj-lt"/>
              </a:rPr>
              <a:t>обменников</a:t>
            </a:r>
            <a:r>
              <a:rPr lang="ru-RU" sz="2400" dirty="0" smtClean="0">
                <a:latin typeface="+mj-lt"/>
              </a:rPr>
              <a:t>: </a:t>
            </a:r>
            <a:r>
              <a:rPr lang="en-US" sz="2400" dirty="0">
                <a:latin typeface="+mj-lt"/>
                <a:hlinkClick r:id="rId3"/>
              </a:rPr>
              <a:t>https://www.bestchange.ru</a:t>
            </a:r>
            <a:r>
              <a:rPr lang="en-US" sz="2400" dirty="0" smtClean="0">
                <a:latin typeface="+mj-lt"/>
                <a:hlinkClick r:id="rId3"/>
              </a:rPr>
              <a:t>/</a:t>
            </a: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  <a:p>
            <a:pPr marL="0" indent="0">
              <a:buNone/>
            </a:pPr>
            <a:r>
              <a:rPr lang="ru-RU" sz="2400" dirty="0" smtClean="0">
                <a:latin typeface="+mj-lt"/>
              </a:rPr>
              <a:t>Ссылка на </a:t>
            </a:r>
            <a:r>
              <a:rPr lang="ru-RU" sz="2400" dirty="0" err="1" smtClean="0">
                <a:latin typeface="+mj-lt"/>
              </a:rPr>
              <a:t>гайд</a:t>
            </a:r>
            <a:r>
              <a:rPr lang="ru-RU" sz="2400" dirty="0" smtClean="0">
                <a:latin typeface="+mj-lt"/>
              </a:rPr>
              <a:t> по </a:t>
            </a:r>
            <a:r>
              <a:rPr lang="ru-RU" sz="2400" dirty="0" err="1" smtClean="0">
                <a:latin typeface="+mj-lt"/>
              </a:rPr>
              <a:t>обменникам</a:t>
            </a:r>
            <a:r>
              <a:rPr lang="ru-RU" sz="2400" dirty="0" smtClean="0">
                <a:latin typeface="+mj-lt"/>
              </a:rPr>
              <a:t>: </a:t>
            </a:r>
            <a:r>
              <a:rPr lang="en-US" sz="2400" dirty="0">
                <a:latin typeface="+mj-lt"/>
                <a:hlinkClick r:id="rId4"/>
              </a:rPr>
              <a:t>https://</a:t>
            </a:r>
            <a:r>
              <a:rPr lang="en-US" sz="2400" dirty="0" smtClean="0">
                <a:latin typeface="+mj-lt"/>
                <a:hlinkClick r:id="rId4"/>
              </a:rPr>
              <a:t>www.youtube.com/watch?v=r3SqLCYFCCY&amp;t=433s</a:t>
            </a: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endParaRPr lang="ru-RU" sz="2400" dirty="0" smtClean="0">
              <a:latin typeface="+mj-lt"/>
            </a:endParaRPr>
          </a:p>
          <a:p>
            <a:pPr marL="0" indent="0">
              <a:buNone/>
            </a:pPr>
            <a:endParaRPr lang="ru-RU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85963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3187</TotalTime>
  <Words>1046</Words>
  <Application>Microsoft Office PowerPoint</Application>
  <PresentationFormat>Широкоэкранный</PresentationFormat>
  <Paragraphs>83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Тема Office</vt:lpstr>
      <vt:lpstr>Биржи</vt:lpstr>
      <vt:lpstr>Содержание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Биржи</dc:title>
  <dc:creator>Пользователь Windows</dc:creator>
  <cp:lastModifiedBy>Пользователь Windows</cp:lastModifiedBy>
  <cp:revision>47</cp:revision>
  <dcterms:created xsi:type="dcterms:W3CDTF">2021-06-24T19:52:08Z</dcterms:created>
  <dcterms:modified xsi:type="dcterms:W3CDTF">2021-07-12T13:34:36Z</dcterms:modified>
</cp:coreProperties>
</file>